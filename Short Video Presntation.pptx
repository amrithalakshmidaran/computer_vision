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2" r:id="rId3"/>
    <p:sldId id="257" r:id="rId4"/>
    <p:sldId id="258" r:id="rId5"/>
    <p:sldId id="259" r:id="rId6"/>
    <p:sldId id="269" r:id="rId7"/>
    <p:sldId id="260" r:id="rId8"/>
    <p:sldId id="261" r:id="rId9"/>
    <p:sldId id="271" r:id="rId10"/>
    <p:sldId id="263" r:id="rId11"/>
    <p:sldId id="270" r:id="rId12"/>
    <p:sldId id="262" r:id="rId13"/>
    <p:sldId id="264" r:id="rId14"/>
    <p:sldId id="267" r:id="rId15"/>
    <p:sldId id="268" r:id="rId16"/>
  </p:sldIdLst>
  <p:sldSz cx="18288000" cy="10287000"/>
  <p:notesSz cx="6858000" cy="9144000"/>
  <p:embeddedFontLst>
    <p:embeddedFont>
      <p:font typeface="Chewy" panose="020B0604020202020204" charset="0"/>
      <p:regular r:id="rId17"/>
    </p:embeddedFont>
    <p:embeddedFont>
      <p:font typeface="Nunito"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4" d="100"/>
          <a:sy n="54" d="100"/>
        </p:scale>
        <p:origin x="411"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gi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gif"/><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gi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gif"/><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gi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gif"/><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gif"/><Relationship Id="rId5" Type="http://schemas.openxmlformats.org/officeDocument/2006/relationships/image" Target="../media/image11.sv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gif"/><Relationship Id="rId4" Type="http://schemas.openxmlformats.org/officeDocument/2006/relationships/image" Target="../media/image5.gif"/></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gif"/><Relationship Id="rId5" Type="http://schemas.openxmlformats.org/officeDocument/2006/relationships/image" Target="../media/image11.sv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gif"/><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gif"/><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3788994" y="1017973"/>
            <a:ext cx="11426042" cy="8060553"/>
          </a:xfrm>
          <a:custGeom>
            <a:avLst/>
            <a:gdLst/>
            <a:ahLst/>
            <a:cxnLst/>
            <a:rect l="l" t="t" r="r" b="b"/>
            <a:pathLst>
              <a:path w="11426042" h="8060553">
                <a:moveTo>
                  <a:pt x="0" y="0"/>
                </a:moveTo>
                <a:lnTo>
                  <a:pt x="11426042" y="0"/>
                </a:lnTo>
                <a:lnTo>
                  <a:pt x="11426042" y="8060554"/>
                </a:lnTo>
                <a:lnTo>
                  <a:pt x="0" y="80605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481207" y="3414746"/>
            <a:ext cx="11301532" cy="4058419"/>
          </a:xfrm>
          <a:prstGeom prst="rect">
            <a:avLst/>
          </a:prstGeom>
        </p:spPr>
        <p:txBody>
          <a:bodyPr lIns="0" tIns="0" rIns="0" bIns="0" rtlCol="0" anchor="t">
            <a:spAutoFit/>
          </a:bodyPr>
          <a:lstStyle/>
          <a:p>
            <a:pPr marL="0" lvl="0" indent="0" algn="ctr">
              <a:lnSpc>
                <a:spcPts val="15115"/>
              </a:lnSpc>
            </a:pPr>
            <a:r>
              <a:rPr lang="en-US" sz="18432" dirty="0">
                <a:solidFill>
                  <a:srgbClr val="FFBB24"/>
                </a:solidFill>
                <a:latin typeface="Chewy"/>
                <a:ea typeface="Chewy"/>
                <a:cs typeface="Chewy"/>
                <a:sym typeface="Chewy"/>
              </a:rPr>
              <a:t>COLOUR SPACE</a:t>
            </a:r>
          </a:p>
        </p:txBody>
      </p:sp>
      <p:grpSp>
        <p:nvGrpSpPr>
          <p:cNvPr id="5" name="Group 5"/>
          <p:cNvGrpSpPr/>
          <p:nvPr/>
        </p:nvGrpSpPr>
        <p:grpSpPr>
          <a:xfrm>
            <a:off x="7707107" y="7265379"/>
            <a:ext cx="2873786" cy="1052680"/>
            <a:chOff x="0" y="0"/>
            <a:chExt cx="3831714" cy="1403574"/>
          </a:xfrm>
        </p:grpSpPr>
        <p:grpSp>
          <p:nvGrpSpPr>
            <p:cNvPr id="6" name="Group 6"/>
            <p:cNvGrpSpPr/>
            <p:nvPr/>
          </p:nvGrpSpPr>
          <p:grpSpPr>
            <a:xfrm>
              <a:off x="0" y="0"/>
              <a:ext cx="3831714" cy="1403574"/>
              <a:chOff x="0" y="0"/>
              <a:chExt cx="237610" cy="87038"/>
            </a:xfrm>
          </p:grpSpPr>
          <p:sp>
            <p:nvSpPr>
              <p:cNvPr id="7" name="Freeform 7"/>
              <p:cNvSpPr/>
              <p:nvPr/>
            </p:nvSpPr>
            <p:spPr>
              <a:xfrm>
                <a:off x="0" y="0"/>
                <a:ext cx="237610" cy="87038"/>
              </a:xfrm>
              <a:custGeom>
                <a:avLst/>
                <a:gdLst/>
                <a:ahLst/>
                <a:cxnLst/>
                <a:rect l="l" t="t" r="r" b="b"/>
                <a:pathLst>
                  <a:path w="237610" h="87038">
                    <a:moveTo>
                      <a:pt x="43519" y="0"/>
                    </a:moveTo>
                    <a:lnTo>
                      <a:pt x="194091" y="0"/>
                    </a:lnTo>
                    <a:cubicBezTo>
                      <a:pt x="205633" y="0"/>
                      <a:pt x="216703" y="4585"/>
                      <a:pt x="224864" y="12746"/>
                    </a:cubicBezTo>
                    <a:cubicBezTo>
                      <a:pt x="233025" y="20908"/>
                      <a:pt x="237610" y="31977"/>
                      <a:pt x="237610" y="43519"/>
                    </a:cubicBezTo>
                    <a:lnTo>
                      <a:pt x="237610" y="43519"/>
                    </a:lnTo>
                    <a:cubicBezTo>
                      <a:pt x="237610" y="55061"/>
                      <a:pt x="233025" y="66130"/>
                      <a:pt x="224864" y="74291"/>
                    </a:cubicBezTo>
                    <a:cubicBezTo>
                      <a:pt x="216703" y="82453"/>
                      <a:pt x="205633" y="87038"/>
                      <a:pt x="194091"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8" name="TextBox 8"/>
              <p:cNvSpPr txBox="1"/>
              <p:nvPr/>
            </p:nvSpPr>
            <p:spPr>
              <a:xfrm>
                <a:off x="0" y="-57150"/>
                <a:ext cx="237610" cy="144188"/>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362685" y="149337"/>
              <a:ext cx="3106344" cy="1085850"/>
            </a:xfrm>
            <a:prstGeom prst="rect">
              <a:avLst/>
            </a:prstGeom>
          </p:spPr>
          <p:txBody>
            <a:bodyPr lIns="0" tIns="0" rIns="0" bIns="0" rtlCol="0" anchor="t">
              <a:spAutoFit/>
            </a:bodyPr>
            <a:lstStyle/>
            <a:p>
              <a:pPr algn="ctr">
                <a:lnSpc>
                  <a:spcPts val="6300"/>
                </a:lnSpc>
              </a:pPr>
              <a:r>
                <a:rPr lang="en-US" sz="5250" dirty="0">
                  <a:solidFill>
                    <a:srgbClr val="000000"/>
                  </a:solidFill>
                  <a:latin typeface="Chewy"/>
                  <a:ea typeface="Chewy"/>
                  <a:cs typeface="Chewy"/>
                  <a:sym typeface="Chewy"/>
                </a:rPr>
                <a:t>RGB</a:t>
              </a:r>
            </a:p>
          </p:txBody>
        </p:sp>
      </p:grpSp>
      <p:pic>
        <p:nvPicPr>
          <p:cNvPr id="10" name="Picture 10"/>
          <p:cNvPicPr>
            <a:picLocks noChangeAspect="1"/>
          </p:cNvPicPr>
          <p:nvPr/>
        </p:nvPicPr>
        <p:blipFill>
          <a:blip r:embed="rId6"/>
          <a:srcRect/>
          <a:stretch>
            <a:fillRect/>
          </a:stretch>
        </p:blipFill>
        <p:spPr>
          <a:xfrm flipH="1">
            <a:off x="1266384" y="5376187"/>
            <a:ext cx="4515049" cy="3702340"/>
          </a:xfrm>
          <a:prstGeom prst="rect">
            <a:avLst/>
          </a:prstGeom>
        </p:spPr>
      </p:pic>
      <p:pic>
        <p:nvPicPr>
          <p:cNvPr id="11" name="Picture 11"/>
          <p:cNvPicPr>
            <a:picLocks noChangeAspect="1"/>
          </p:cNvPicPr>
          <p:nvPr/>
        </p:nvPicPr>
        <p:blipFill>
          <a:blip r:embed="rId7"/>
          <a:srcRect/>
          <a:stretch>
            <a:fillRect/>
          </a:stretch>
        </p:blipFill>
        <p:spPr>
          <a:xfrm>
            <a:off x="14164002" y="884943"/>
            <a:ext cx="3095298" cy="38213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a:extLst>
            <a:ext uri="{FF2B5EF4-FFF2-40B4-BE49-F238E27FC236}">
              <a16:creationId xmlns:a16="http://schemas.microsoft.com/office/drawing/2014/main" id="{77CC4BE4-EBF0-AE59-6091-835CBC4347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99FBCA-3B10-7AAC-1179-5CCF34A038EA}"/>
              </a:ext>
            </a:extLst>
          </p:cNvPr>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BC33BE35-10DA-1BE6-7FC9-13AA33E5D89A}"/>
              </a:ext>
            </a:extLst>
          </p:cNvPr>
          <p:cNvSpPr/>
          <p:nvPr/>
        </p:nvSpPr>
        <p:spPr>
          <a:xfrm>
            <a:off x="2215874" y="2385133"/>
            <a:ext cx="14366164"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4" name="Group 4">
            <a:extLst>
              <a:ext uri="{FF2B5EF4-FFF2-40B4-BE49-F238E27FC236}">
                <a16:creationId xmlns:a16="http://schemas.microsoft.com/office/drawing/2014/main" id="{6D287F05-AB1F-104B-B663-11C465C85525}"/>
              </a:ext>
            </a:extLst>
          </p:cNvPr>
          <p:cNvGrpSpPr/>
          <p:nvPr/>
        </p:nvGrpSpPr>
        <p:grpSpPr>
          <a:xfrm>
            <a:off x="6290555" y="800100"/>
            <a:ext cx="6671322" cy="2318871"/>
            <a:chOff x="-606026" y="-1225470"/>
            <a:chExt cx="8895096" cy="3091829"/>
          </a:xfrm>
        </p:grpSpPr>
        <p:grpSp>
          <p:nvGrpSpPr>
            <p:cNvPr id="5" name="Group 5">
              <a:extLst>
                <a:ext uri="{FF2B5EF4-FFF2-40B4-BE49-F238E27FC236}">
                  <a16:creationId xmlns:a16="http://schemas.microsoft.com/office/drawing/2014/main" id="{12148D92-6F9A-14A6-4EA4-41F3A0F73DC8}"/>
                </a:ext>
              </a:extLst>
            </p:cNvPr>
            <p:cNvGrpSpPr/>
            <p:nvPr/>
          </p:nvGrpSpPr>
          <p:grpSpPr>
            <a:xfrm>
              <a:off x="-606026" y="-1225470"/>
              <a:ext cx="8895096" cy="3091829"/>
              <a:chOff x="-28262" y="-57150"/>
              <a:chExt cx="414823" cy="144188"/>
            </a:xfrm>
          </p:grpSpPr>
          <p:sp>
            <p:nvSpPr>
              <p:cNvPr id="6" name="Freeform 6">
                <a:extLst>
                  <a:ext uri="{FF2B5EF4-FFF2-40B4-BE49-F238E27FC236}">
                    <a16:creationId xmlns:a16="http://schemas.microsoft.com/office/drawing/2014/main" id="{AD82CFAC-0AE9-F66A-FC12-BA928422E4B6}"/>
                  </a:ext>
                </a:extLst>
              </p:cNvPr>
              <p:cNvSpPr/>
              <p:nvPr/>
            </p:nvSpPr>
            <p:spPr>
              <a:xfrm>
                <a:off x="-28262" y="-2112"/>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a:extLst>
                  <a:ext uri="{FF2B5EF4-FFF2-40B4-BE49-F238E27FC236}">
                    <a16:creationId xmlns:a16="http://schemas.microsoft.com/office/drawing/2014/main" id="{1B8AF54D-8C97-0840-F1DC-5C19425977F0}"/>
                  </a:ext>
                </a:extLst>
              </p:cNvPr>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a:extLst>
                <a:ext uri="{FF2B5EF4-FFF2-40B4-BE49-F238E27FC236}">
                  <a16:creationId xmlns:a16="http://schemas.microsoft.com/office/drawing/2014/main" id="{2AAF1745-F75C-885F-56F5-AF87BEEF432E}"/>
                </a:ext>
              </a:extLst>
            </p:cNvPr>
            <p:cNvSpPr txBox="1"/>
            <p:nvPr/>
          </p:nvSpPr>
          <p:spPr>
            <a:xfrm>
              <a:off x="-427465" y="214381"/>
              <a:ext cx="7931946" cy="1415431"/>
            </a:xfrm>
            <a:prstGeom prst="rect">
              <a:avLst/>
            </a:prstGeom>
          </p:spPr>
          <p:txBody>
            <a:bodyPr wrap="square" lIns="0" tIns="0" rIns="0" bIns="0" rtlCol="0" anchor="t">
              <a:spAutoFit/>
            </a:bodyPr>
            <a:lstStyle/>
            <a:p>
              <a:pPr algn="ctr">
                <a:lnSpc>
                  <a:spcPts val="8377"/>
                </a:lnSpc>
              </a:pPr>
              <a:r>
                <a:rPr lang="en-US" sz="6981" dirty="0">
                  <a:solidFill>
                    <a:srgbClr val="000000"/>
                  </a:solidFill>
                  <a:latin typeface="Chewy"/>
                  <a:ea typeface="Chewy"/>
                  <a:cs typeface="Chewy"/>
                  <a:sym typeface="Chewy"/>
                </a:rPr>
                <a:t>INTRODUCTION</a:t>
              </a:r>
            </a:p>
          </p:txBody>
        </p:sp>
      </p:grpSp>
      <p:sp>
        <p:nvSpPr>
          <p:cNvPr id="15" name="TextBox 14">
            <a:extLst>
              <a:ext uri="{FF2B5EF4-FFF2-40B4-BE49-F238E27FC236}">
                <a16:creationId xmlns:a16="http://schemas.microsoft.com/office/drawing/2014/main" id="{347F2B71-2DCA-A50D-93C3-B81D00CAB3AD}"/>
              </a:ext>
            </a:extLst>
          </p:cNvPr>
          <p:cNvSpPr txBox="1"/>
          <p:nvPr/>
        </p:nvSpPr>
        <p:spPr>
          <a:xfrm>
            <a:off x="3124200" y="3313723"/>
            <a:ext cx="12877800" cy="923330"/>
          </a:xfrm>
          <a:prstGeom prst="rect">
            <a:avLst/>
          </a:prstGeom>
          <a:noFill/>
        </p:spPr>
        <p:txBody>
          <a:bodyPr wrap="square" rtlCol="0">
            <a:spAutoFit/>
          </a:bodyPr>
          <a:lstStyle/>
          <a:p>
            <a:endParaRPr lang="en-US" dirty="0">
              <a:latin typeface="Nunito" pitchFamily="2" charset="0"/>
            </a:endParaRPr>
          </a:p>
          <a:p>
            <a:endParaRPr lang="en-US" dirty="0">
              <a:latin typeface="Nunito" pitchFamily="2" charset="0"/>
            </a:endParaRPr>
          </a:p>
          <a:p>
            <a:endParaRPr lang="en-US" dirty="0">
              <a:latin typeface="Nunito" pitchFamily="2" charset="0"/>
            </a:endParaRPr>
          </a:p>
        </p:txBody>
      </p:sp>
      <p:pic>
        <p:nvPicPr>
          <p:cNvPr id="4098" name="Picture 2" descr="Rgb Pixel&quot; Images – Browse 4 Stock Photos, Vectors, and Video | Adobe Stock">
            <a:extLst>
              <a:ext uri="{FF2B5EF4-FFF2-40B4-BE49-F238E27FC236}">
                <a16:creationId xmlns:a16="http://schemas.microsoft.com/office/drawing/2014/main" id="{AFE7E6A9-2BB7-FA32-FA39-F2C1BFD62E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8282" y="3445596"/>
            <a:ext cx="5792781" cy="389067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8BA839D-4721-7B2A-E24E-3B43F33B6190}"/>
              </a:ext>
            </a:extLst>
          </p:cNvPr>
          <p:cNvSpPr txBox="1"/>
          <p:nvPr/>
        </p:nvSpPr>
        <p:spPr>
          <a:xfrm>
            <a:off x="9168114" y="3277356"/>
            <a:ext cx="6509026" cy="4832092"/>
          </a:xfrm>
          <a:prstGeom prst="rect">
            <a:avLst/>
          </a:prstGeom>
          <a:noFill/>
        </p:spPr>
        <p:txBody>
          <a:bodyPr wrap="square" rtlCol="0">
            <a:spAutoFit/>
          </a:bodyPr>
          <a:lstStyle/>
          <a:p>
            <a:r>
              <a:rPr lang="en-US" sz="2800" b="1" dirty="0">
                <a:latin typeface="Nunito" pitchFamily="2" charset="0"/>
              </a:rPr>
              <a:t>Digital images</a:t>
            </a:r>
            <a:r>
              <a:rPr lang="en-US" sz="2800" dirty="0">
                <a:latin typeface="Nunito" pitchFamily="2" charset="0"/>
              </a:rPr>
              <a:t> are made up of tiny units called </a:t>
            </a:r>
            <a:r>
              <a:rPr lang="en-US" sz="2800" b="1" dirty="0">
                <a:latin typeface="Nunito" pitchFamily="2" charset="0"/>
              </a:rPr>
              <a:t>pixels</a:t>
            </a:r>
            <a:r>
              <a:rPr lang="en-US" sz="2800" dirty="0">
                <a:latin typeface="Nunito" pitchFamily="2" charset="0"/>
              </a:rPr>
              <a:t>, and each pixel in an RGB image contains three color values—</a:t>
            </a:r>
            <a:r>
              <a:rPr lang="en-US" sz="2800" b="1" dirty="0">
                <a:latin typeface="Nunito" pitchFamily="2" charset="0"/>
              </a:rPr>
              <a:t>Red, Green, and Blue</a:t>
            </a:r>
            <a:r>
              <a:rPr lang="en-US" sz="2800" dirty="0">
                <a:latin typeface="Nunito" pitchFamily="2" charset="0"/>
              </a:rPr>
              <a:t>. By adjusting the intensity (0–255) of these three components, each pixel displays a specific color. When millions of RGB pixels are combined, they form a complete, colorful image on digital screens, allowing for detailed and vibrant visual representations.</a:t>
            </a:r>
          </a:p>
        </p:txBody>
      </p:sp>
    </p:spTree>
    <p:extLst>
      <p:ext uri="{BB962C8B-B14F-4D97-AF65-F5344CB8AC3E}">
        <p14:creationId xmlns:p14="http://schemas.microsoft.com/office/powerpoint/2010/main" val="6228263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215874" y="2385133"/>
            <a:ext cx="14366164"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4" name="Group 4"/>
          <p:cNvGrpSpPr/>
          <p:nvPr/>
        </p:nvGrpSpPr>
        <p:grpSpPr>
          <a:xfrm>
            <a:off x="6290555" y="800100"/>
            <a:ext cx="6671322" cy="2318871"/>
            <a:chOff x="-606026" y="-1225470"/>
            <a:chExt cx="8895096" cy="3091829"/>
          </a:xfrm>
        </p:grpSpPr>
        <p:grpSp>
          <p:nvGrpSpPr>
            <p:cNvPr id="5" name="Group 5"/>
            <p:cNvGrpSpPr/>
            <p:nvPr/>
          </p:nvGrpSpPr>
          <p:grpSpPr>
            <a:xfrm>
              <a:off x="-606026" y="-1225470"/>
              <a:ext cx="8895096" cy="3091829"/>
              <a:chOff x="-28262" y="-57150"/>
              <a:chExt cx="414823" cy="144188"/>
            </a:xfrm>
          </p:grpSpPr>
          <p:sp>
            <p:nvSpPr>
              <p:cNvPr id="6" name="Freeform 6"/>
              <p:cNvSpPr/>
              <p:nvPr/>
            </p:nvSpPr>
            <p:spPr>
              <a:xfrm>
                <a:off x="-28262" y="-2112"/>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427465" y="214381"/>
              <a:ext cx="7931946" cy="1415431"/>
            </a:xfrm>
            <a:prstGeom prst="rect">
              <a:avLst/>
            </a:prstGeom>
          </p:spPr>
          <p:txBody>
            <a:bodyPr wrap="square" lIns="0" tIns="0" rIns="0" bIns="0" rtlCol="0" anchor="t">
              <a:spAutoFit/>
            </a:bodyPr>
            <a:lstStyle/>
            <a:p>
              <a:pPr algn="ctr">
                <a:lnSpc>
                  <a:spcPts val="8377"/>
                </a:lnSpc>
              </a:pPr>
              <a:r>
                <a:rPr lang="en-US" sz="6981" dirty="0">
                  <a:solidFill>
                    <a:srgbClr val="000000"/>
                  </a:solidFill>
                  <a:latin typeface="Chewy"/>
                  <a:ea typeface="Chewy"/>
                  <a:cs typeface="Chewy"/>
                  <a:sym typeface="Chewy"/>
                </a:rPr>
                <a:t>INTRODUCTION</a:t>
              </a:r>
            </a:p>
          </p:txBody>
        </p:sp>
      </p:grpSp>
      <p:sp>
        <p:nvSpPr>
          <p:cNvPr id="15" name="TextBox 14">
            <a:extLst>
              <a:ext uri="{FF2B5EF4-FFF2-40B4-BE49-F238E27FC236}">
                <a16:creationId xmlns:a16="http://schemas.microsoft.com/office/drawing/2014/main" id="{0316BDA9-636B-4297-CABF-27CAE0E4C7EA}"/>
              </a:ext>
            </a:extLst>
          </p:cNvPr>
          <p:cNvSpPr txBox="1"/>
          <p:nvPr/>
        </p:nvSpPr>
        <p:spPr>
          <a:xfrm>
            <a:off x="3124200" y="3313723"/>
            <a:ext cx="12877800" cy="4862870"/>
          </a:xfrm>
          <a:prstGeom prst="rect">
            <a:avLst/>
          </a:prstGeom>
          <a:noFill/>
        </p:spPr>
        <p:txBody>
          <a:bodyPr wrap="square" rtlCol="0">
            <a:spAutoFit/>
          </a:bodyPr>
          <a:lstStyle/>
          <a:p>
            <a:r>
              <a:rPr lang="en-US" sz="2400" dirty="0">
                <a:latin typeface="Nunito" pitchFamily="2" charset="0"/>
              </a:rPr>
              <a:t>The RGB color model is one of the most widely used color representation method in computer graphics. It use a color coordinate system with three primary colors:</a:t>
            </a:r>
          </a:p>
          <a:p>
            <a:endParaRPr lang="en-US" sz="2400" dirty="0">
              <a:latin typeface="Nunito" pitchFamily="2" charset="0"/>
            </a:endParaRPr>
          </a:p>
          <a:p>
            <a:pPr algn="ctr"/>
            <a:r>
              <a:rPr lang="en-US" sz="4000" b="1" dirty="0">
                <a:latin typeface="Nunito" pitchFamily="2" charset="0"/>
              </a:rPr>
              <a:t>R(red), G(green), B(blue) </a:t>
            </a:r>
          </a:p>
          <a:p>
            <a:endParaRPr lang="en-US" sz="2400" dirty="0">
              <a:latin typeface="Nunito" pitchFamily="2" charset="0"/>
            </a:endParaRPr>
          </a:p>
          <a:p>
            <a:endParaRPr lang="en-US" sz="2400" dirty="0">
              <a:latin typeface="Nunito" pitchFamily="2" charset="0"/>
            </a:endParaRPr>
          </a:p>
          <a:p>
            <a:r>
              <a:rPr lang="en-US" sz="2400" dirty="0">
                <a:latin typeface="Nunito" pitchFamily="2" charset="0"/>
              </a:rPr>
              <a:t>Each primary color can take an intensity value ranging from 0(lowest) to 1(highest). Mixing these three primary colors at different intensity levels produces a variety of colors. The collection of all the colors obtained by such a linear combination of red, green and blue forms the cube shaped RGB color space.</a:t>
            </a:r>
          </a:p>
          <a:p>
            <a:endParaRPr lang="en-US" dirty="0">
              <a:latin typeface="Nunito" pitchFamily="2" charset="0"/>
            </a:endParaRPr>
          </a:p>
          <a:p>
            <a:endParaRPr lang="en-US" dirty="0">
              <a:latin typeface="Nunito" pitchFamily="2" charset="0"/>
            </a:endParaRPr>
          </a:p>
          <a:p>
            <a:endParaRPr lang="en-US" dirty="0">
              <a:latin typeface="Nunito" pitchFamily="2"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151908" y="2196610"/>
            <a:ext cx="7984184" cy="5893780"/>
          </a:xfrm>
          <a:custGeom>
            <a:avLst/>
            <a:gdLst/>
            <a:ahLst/>
            <a:cxnLst/>
            <a:rect l="l" t="t" r="r" b="b"/>
            <a:pathLst>
              <a:path w="7984184" h="5893780">
                <a:moveTo>
                  <a:pt x="0" y="0"/>
                </a:moveTo>
                <a:lnTo>
                  <a:pt x="7984184" y="0"/>
                </a:lnTo>
                <a:lnTo>
                  <a:pt x="7984184" y="5893780"/>
                </a:lnTo>
                <a:lnTo>
                  <a:pt x="0" y="58937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4" name="TextBox 4"/>
          <p:cNvSpPr txBox="1"/>
          <p:nvPr/>
        </p:nvSpPr>
        <p:spPr>
          <a:xfrm>
            <a:off x="5486400" y="3944190"/>
            <a:ext cx="7524127" cy="2250360"/>
          </a:xfrm>
          <a:prstGeom prst="rect">
            <a:avLst/>
          </a:prstGeom>
        </p:spPr>
        <p:txBody>
          <a:bodyPr wrap="square" lIns="0" tIns="0" rIns="0" bIns="0" rtlCol="0" anchor="t">
            <a:spAutoFit/>
          </a:bodyPr>
          <a:lstStyle/>
          <a:p>
            <a:pPr marL="0" lvl="0" indent="0" algn="ctr">
              <a:lnSpc>
                <a:spcPts val="16927"/>
              </a:lnSpc>
            </a:pPr>
            <a:r>
              <a:rPr lang="en-US" sz="17200" dirty="0">
                <a:solidFill>
                  <a:srgbClr val="FFBB24"/>
                </a:solidFill>
                <a:latin typeface="Chewy"/>
                <a:ea typeface="Chewy"/>
                <a:cs typeface="Chewy"/>
                <a:sym typeface="Chewy"/>
              </a:rPr>
              <a:t>TOPIC 1</a:t>
            </a:r>
          </a:p>
        </p:txBody>
      </p:sp>
      <p:grpSp>
        <p:nvGrpSpPr>
          <p:cNvPr id="5" name="Group 5"/>
          <p:cNvGrpSpPr/>
          <p:nvPr/>
        </p:nvGrpSpPr>
        <p:grpSpPr>
          <a:xfrm>
            <a:off x="7707107" y="5871684"/>
            <a:ext cx="2873786" cy="1052681"/>
            <a:chOff x="0" y="0"/>
            <a:chExt cx="3831714" cy="1403574"/>
          </a:xfrm>
        </p:grpSpPr>
        <p:grpSp>
          <p:nvGrpSpPr>
            <p:cNvPr id="6" name="Group 6"/>
            <p:cNvGrpSpPr/>
            <p:nvPr/>
          </p:nvGrpSpPr>
          <p:grpSpPr>
            <a:xfrm>
              <a:off x="0" y="0"/>
              <a:ext cx="3831714" cy="1403574"/>
              <a:chOff x="0" y="0"/>
              <a:chExt cx="237610" cy="87038"/>
            </a:xfrm>
          </p:grpSpPr>
          <p:sp>
            <p:nvSpPr>
              <p:cNvPr id="7" name="Freeform 7"/>
              <p:cNvSpPr/>
              <p:nvPr/>
            </p:nvSpPr>
            <p:spPr>
              <a:xfrm>
                <a:off x="0" y="0"/>
                <a:ext cx="237610" cy="87038"/>
              </a:xfrm>
              <a:custGeom>
                <a:avLst/>
                <a:gdLst/>
                <a:ahLst/>
                <a:cxnLst/>
                <a:rect l="l" t="t" r="r" b="b"/>
                <a:pathLst>
                  <a:path w="237610" h="87038">
                    <a:moveTo>
                      <a:pt x="43519" y="0"/>
                    </a:moveTo>
                    <a:lnTo>
                      <a:pt x="194091" y="0"/>
                    </a:lnTo>
                    <a:cubicBezTo>
                      <a:pt x="205633" y="0"/>
                      <a:pt x="216703" y="4585"/>
                      <a:pt x="224864" y="12746"/>
                    </a:cubicBezTo>
                    <a:cubicBezTo>
                      <a:pt x="233025" y="20908"/>
                      <a:pt x="237610" y="31977"/>
                      <a:pt x="237610" y="43519"/>
                    </a:cubicBezTo>
                    <a:lnTo>
                      <a:pt x="237610" y="43519"/>
                    </a:lnTo>
                    <a:cubicBezTo>
                      <a:pt x="237610" y="55061"/>
                      <a:pt x="233025" y="66130"/>
                      <a:pt x="224864" y="74291"/>
                    </a:cubicBezTo>
                    <a:cubicBezTo>
                      <a:pt x="216703" y="82453"/>
                      <a:pt x="205633" y="87038"/>
                      <a:pt x="194091"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8" name="TextBox 8"/>
              <p:cNvSpPr txBox="1"/>
              <p:nvPr/>
            </p:nvSpPr>
            <p:spPr>
              <a:xfrm>
                <a:off x="0" y="-57150"/>
                <a:ext cx="237610" cy="144188"/>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188657" y="78555"/>
              <a:ext cx="3106343" cy="1040456"/>
            </a:xfrm>
            <a:prstGeom prst="rect">
              <a:avLst/>
            </a:prstGeom>
          </p:spPr>
          <p:txBody>
            <a:bodyPr lIns="0" tIns="0" rIns="0" bIns="0" rtlCol="0" anchor="t">
              <a:spAutoFit/>
            </a:bodyPr>
            <a:lstStyle/>
            <a:p>
              <a:pPr algn="ctr">
                <a:lnSpc>
                  <a:spcPts val="6300"/>
                </a:lnSpc>
              </a:pPr>
              <a:r>
                <a:rPr lang="en-US" sz="4800" dirty="0">
                  <a:solidFill>
                    <a:srgbClr val="000000"/>
                  </a:solidFill>
                  <a:latin typeface="Chewy"/>
                  <a:ea typeface="Chewy"/>
                  <a:cs typeface="Chewy"/>
                  <a:sym typeface="Chewy"/>
                </a:rPr>
                <a:t> </a:t>
              </a:r>
              <a:r>
                <a:rPr lang="en-US" sz="2800" dirty="0">
                  <a:solidFill>
                    <a:srgbClr val="000000"/>
                  </a:solidFill>
                  <a:latin typeface="Chewy"/>
                  <a:ea typeface="Chewy"/>
                  <a:cs typeface="Chewy"/>
                  <a:sym typeface="Chewy"/>
                </a:rPr>
                <a:t>COLOUR CUBE</a:t>
              </a:r>
              <a:endParaRPr lang="en-US" sz="4800" dirty="0">
                <a:solidFill>
                  <a:srgbClr val="000000"/>
                </a:solidFill>
                <a:latin typeface="Chewy"/>
                <a:ea typeface="Chewy"/>
                <a:cs typeface="Chewy"/>
                <a:sym typeface="Chewy"/>
              </a:endParaRPr>
            </a:p>
          </p:txBody>
        </p:sp>
      </p:grpSp>
      <p:pic>
        <p:nvPicPr>
          <p:cNvPr id="10" name="Picture 10"/>
          <p:cNvPicPr>
            <a:picLocks noChangeAspect="1"/>
          </p:cNvPicPr>
          <p:nvPr/>
        </p:nvPicPr>
        <p:blipFill>
          <a:blip r:embed="rId6"/>
          <a:srcRect/>
          <a:stretch>
            <a:fillRect/>
          </a:stretch>
        </p:blipFill>
        <p:spPr>
          <a:xfrm>
            <a:off x="14268487" y="3285183"/>
            <a:ext cx="2990813" cy="3603390"/>
          </a:xfrm>
          <a:prstGeom prst="rect">
            <a:avLst/>
          </a:prstGeom>
        </p:spPr>
      </p:pic>
      <p:pic>
        <p:nvPicPr>
          <p:cNvPr id="11" name="Picture 11"/>
          <p:cNvPicPr>
            <a:picLocks noChangeAspect="1"/>
          </p:cNvPicPr>
          <p:nvPr/>
        </p:nvPicPr>
        <p:blipFill>
          <a:blip r:embed="rId6"/>
          <a:srcRect/>
          <a:stretch>
            <a:fillRect/>
          </a:stretch>
        </p:blipFill>
        <p:spPr>
          <a:xfrm flipH="1">
            <a:off x="1028700" y="3285183"/>
            <a:ext cx="2990813" cy="36033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286000" y="1181100"/>
            <a:ext cx="12734343" cy="7696199"/>
          </a:xfrm>
          <a:custGeom>
            <a:avLst/>
            <a:gdLst/>
            <a:ahLst/>
            <a:cxnLst/>
            <a:rect l="l" t="t" r="r" b="b"/>
            <a:pathLst>
              <a:path w="11752686" h="6175502">
                <a:moveTo>
                  <a:pt x="0" y="0"/>
                </a:moveTo>
                <a:lnTo>
                  <a:pt x="11752686" y="0"/>
                </a:lnTo>
                <a:lnTo>
                  <a:pt x="11752686" y="6175502"/>
                </a:lnTo>
                <a:lnTo>
                  <a:pt x="0" y="6175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34" name="Picture 34"/>
          <p:cNvPicPr>
            <a:picLocks noChangeAspect="1"/>
          </p:cNvPicPr>
          <p:nvPr/>
        </p:nvPicPr>
        <p:blipFill>
          <a:blip r:embed="rId6"/>
          <a:srcRect/>
          <a:stretch>
            <a:fillRect/>
          </a:stretch>
        </p:blipFill>
        <p:spPr>
          <a:xfrm rot="-1427457">
            <a:off x="238257" y="6686942"/>
            <a:ext cx="3010538" cy="3326562"/>
          </a:xfrm>
          <a:prstGeom prst="rect">
            <a:avLst/>
          </a:prstGeom>
        </p:spPr>
      </p:pic>
      <p:pic>
        <p:nvPicPr>
          <p:cNvPr id="35" name="Picture 35"/>
          <p:cNvPicPr>
            <a:picLocks noChangeAspect="1"/>
          </p:cNvPicPr>
          <p:nvPr/>
        </p:nvPicPr>
        <p:blipFill>
          <a:blip r:embed="rId7"/>
          <a:srcRect/>
          <a:stretch>
            <a:fillRect/>
          </a:stretch>
        </p:blipFill>
        <p:spPr>
          <a:xfrm rot="3394380">
            <a:off x="13828085" y="218160"/>
            <a:ext cx="4097618" cy="1925881"/>
          </a:xfrm>
          <a:prstGeom prst="rect">
            <a:avLst/>
          </a:prstGeom>
        </p:spPr>
      </p:pic>
      <p:pic>
        <p:nvPicPr>
          <p:cNvPr id="38" name="Picture 37">
            <a:extLst>
              <a:ext uri="{FF2B5EF4-FFF2-40B4-BE49-F238E27FC236}">
                <a16:creationId xmlns:a16="http://schemas.microsoft.com/office/drawing/2014/main" id="{0A9A2A5E-8F53-D1FC-22C4-96AE6C7BFA7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37456" y="2705100"/>
            <a:ext cx="5636101" cy="5105400"/>
          </a:xfrm>
          <a:prstGeom prst="rect">
            <a:avLst/>
          </a:prstGeom>
        </p:spPr>
      </p:pic>
      <p:sp>
        <p:nvSpPr>
          <p:cNvPr id="40" name="TextBox 39">
            <a:extLst>
              <a:ext uri="{FF2B5EF4-FFF2-40B4-BE49-F238E27FC236}">
                <a16:creationId xmlns:a16="http://schemas.microsoft.com/office/drawing/2014/main" id="{1B9E0D8B-73BF-96F9-1D2F-AF9314F80543}"/>
              </a:ext>
            </a:extLst>
          </p:cNvPr>
          <p:cNvSpPr txBox="1"/>
          <p:nvPr/>
        </p:nvSpPr>
        <p:spPr>
          <a:xfrm>
            <a:off x="3086100" y="1886942"/>
            <a:ext cx="6667500" cy="4729500"/>
          </a:xfrm>
          <a:prstGeom prst="rect">
            <a:avLst/>
          </a:prstGeom>
          <a:noFill/>
        </p:spPr>
        <p:txBody>
          <a:bodyPr wrap="square" rtlCol="0">
            <a:spAutoFit/>
          </a:bodyPr>
          <a:lstStyle/>
          <a:p>
            <a:pPr algn="l" fontAlgn="base">
              <a:spcAft>
                <a:spcPts val="750"/>
              </a:spcAft>
              <a:buNone/>
            </a:pPr>
            <a:r>
              <a:rPr lang="en-US" sz="2400" b="0" i="0" dirty="0">
                <a:solidFill>
                  <a:srgbClr val="273239"/>
                </a:solidFill>
                <a:effectLst/>
                <a:latin typeface="Nunito" pitchFamily="2" charset="0"/>
              </a:rPr>
              <a:t>The corner of RGB color cube that is at the origin of the coordinate system corresponds to black, whereas the corner of the cube that is diagonally opposite to the origin represents white. The diagonal line connecting black and white corresponds to all the gray colors between black and white, which is also known as </a:t>
            </a:r>
            <a:r>
              <a:rPr lang="en-US" sz="2400" b="1" i="0" dirty="0">
                <a:solidFill>
                  <a:srgbClr val="273239"/>
                </a:solidFill>
                <a:effectLst/>
                <a:latin typeface="Nunito" pitchFamily="2" charset="0"/>
              </a:rPr>
              <a:t>gray axis</a:t>
            </a:r>
            <a:r>
              <a:rPr lang="en-US" sz="2400" b="0" i="0" dirty="0">
                <a:solidFill>
                  <a:srgbClr val="273239"/>
                </a:solidFill>
                <a:effectLst/>
                <a:latin typeface="Nunito" pitchFamily="2" charset="0"/>
              </a:rPr>
              <a:t>.</a:t>
            </a:r>
          </a:p>
          <a:p>
            <a:pPr algn="l" fontAlgn="base">
              <a:spcAft>
                <a:spcPts val="750"/>
              </a:spcAft>
            </a:pPr>
            <a:r>
              <a:rPr lang="en-US" sz="2400" b="0" i="0" dirty="0">
                <a:solidFill>
                  <a:srgbClr val="273239"/>
                </a:solidFill>
                <a:effectLst/>
                <a:latin typeface="Nunito" pitchFamily="2" charset="0"/>
              </a:rPr>
              <a:t>In the RGB color model, an arbitrary color within the cubic color space can be specified by its color coordinates: (r, g, b).</a:t>
            </a:r>
          </a:p>
          <a:p>
            <a:endParaRPr lang="en-US" sz="2400" dirty="0"/>
          </a:p>
        </p:txBody>
      </p:sp>
      <p:sp>
        <p:nvSpPr>
          <p:cNvPr id="41" name="TextBox 40">
            <a:extLst>
              <a:ext uri="{FF2B5EF4-FFF2-40B4-BE49-F238E27FC236}">
                <a16:creationId xmlns:a16="http://schemas.microsoft.com/office/drawing/2014/main" id="{D13B2F41-CBB4-D34F-E069-A20B4F15E8D2}"/>
              </a:ext>
            </a:extLst>
          </p:cNvPr>
          <p:cNvSpPr txBox="1"/>
          <p:nvPr/>
        </p:nvSpPr>
        <p:spPr>
          <a:xfrm>
            <a:off x="2743200" y="6407713"/>
            <a:ext cx="8534400" cy="1200329"/>
          </a:xfrm>
          <a:prstGeom prst="rect">
            <a:avLst/>
          </a:prstGeom>
          <a:noFill/>
        </p:spPr>
        <p:txBody>
          <a:bodyPr wrap="square" rtlCol="0">
            <a:spAutoFit/>
          </a:bodyPr>
          <a:lstStyle/>
          <a:p>
            <a:r>
              <a:rPr lang="en-US" sz="2400" b="1" dirty="0">
                <a:latin typeface="Nunito" pitchFamily="2" charset="0"/>
              </a:rPr>
              <a:t>Example:</a:t>
            </a:r>
          </a:p>
          <a:p>
            <a:r>
              <a:rPr lang="en-US" sz="2400" b="1" dirty="0">
                <a:latin typeface="Nunito" pitchFamily="2" charset="0"/>
              </a:rPr>
              <a:t>(0, 0, 0) for black, (1, 1, 1) for white, </a:t>
            </a:r>
          </a:p>
          <a:p>
            <a:r>
              <a:rPr lang="en-US" sz="2400" b="1" dirty="0">
                <a:latin typeface="Nunito" pitchFamily="2" charset="0"/>
              </a:rPr>
              <a:t>(1, 1, 0) for yellow, (0.7, 0.7, 0.7) for gray </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a:extLst>
            <a:ext uri="{FF2B5EF4-FFF2-40B4-BE49-F238E27FC236}">
              <a16:creationId xmlns:a16="http://schemas.microsoft.com/office/drawing/2014/main" id="{89F0ABB3-0BFE-2BD1-5C8A-57E26ABBD7F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CCB009-AB4C-C006-13B1-9A0B77665BF9}"/>
              </a:ext>
            </a:extLst>
          </p:cNvPr>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126A5892-8929-B57B-1EE5-7CF22909C7EB}"/>
              </a:ext>
            </a:extLst>
          </p:cNvPr>
          <p:cNvSpPr/>
          <p:nvPr/>
        </p:nvSpPr>
        <p:spPr>
          <a:xfrm>
            <a:off x="2286000" y="1181100"/>
            <a:ext cx="12734343" cy="7696199"/>
          </a:xfrm>
          <a:custGeom>
            <a:avLst/>
            <a:gdLst/>
            <a:ahLst/>
            <a:cxnLst/>
            <a:rect l="l" t="t" r="r" b="b"/>
            <a:pathLst>
              <a:path w="11752686" h="6175502">
                <a:moveTo>
                  <a:pt x="0" y="0"/>
                </a:moveTo>
                <a:lnTo>
                  <a:pt x="11752686" y="0"/>
                </a:lnTo>
                <a:lnTo>
                  <a:pt x="11752686" y="6175502"/>
                </a:lnTo>
                <a:lnTo>
                  <a:pt x="0" y="6175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34" name="Picture 34">
            <a:extLst>
              <a:ext uri="{FF2B5EF4-FFF2-40B4-BE49-F238E27FC236}">
                <a16:creationId xmlns:a16="http://schemas.microsoft.com/office/drawing/2014/main" id="{B5207531-1908-F117-38F9-FDCB1A204C7B}"/>
              </a:ext>
            </a:extLst>
          </p:cNvPr>
          <p:cNvPicPr>
            <a:picLocks noChangeAspect="1"/>
          </p:cNvPicPr>
          <p:nvPr/>
        </p:nvPicPr>
        <p:blipFill>
          <a:blip r:embed="rId6"/>
          <a:srcRect/>
          <a:stretch>
            <a:fillRect/>
          </a:stretch>
        </p:blipFill>
        <p:spPr>
          <a:xfrm rot="-1427457">
            <a:off x="238257" y="6686942"/>
            <a:ext cx="3010538" cy="3326562"/>
          </a:xfrm>
          <a:prstGeom prst="rect">
            <a:avLst/>
          </a:prstGeom>
        </p:spPr>
      </p:pic>
      <p:pic>
        <p:nvPicPr>
          <p:cNvPr id="35" name="Picture 35">
            <a:extLst>
              <a:ext uri="{FF2B5EF4-FFF2-40B4-BE49-F238E27FC236}">
                <a16:creationId xmlns:a16="http://schemas.microsoft.com/office/drawing/2014/main" id="{EF03EAEF-75D0-5ADF-6360-774614767B13}"/>
              </a:ext>
            </a:extLst>
          </p:cNvPr>
          <p:cNvPicPr>
            <a:picLocks noChangeAspect="1"/>
          </p:cNvPicPr>
          <p:nvPr/>
        </p:nvPicPr>
        <p:blipFill>
          <a:blip r:embed="rId7"/>
          <a:srcRect/>
          <a:stretch>
            <a:fillRect/>
          </a:stretch>
        </p:blipFill>
        <p:spPr>
          <a:xfrm rot="3394380">
            <a:off x="13828085" y="218160"/>
            <a:ext cx="4097618" cy="1925881"/>
          </a:xfrm>
          <a:prstGeom prst="rect">
            <a:avLst/>
          </a:prstGeom>
        </p:spPr>
      </p:pic>
      <p:pic>
        <p:nvPicPr>
          <p:cNvPr id="38" name="Picture 37">
            <a:extLst>
              <a:ext uri="{FF2B5EF4-FFF2-40B4-BE49-F238E27FC236}">
                <a16:creationId xmlns:a16="http://schemas.microsoft.com/office/drawing/2014/main" id="{5B2EE856-CABA-93D3-8A9E-8430124D2F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64420" y="1979714"/>
            <a:ext cx="4639202" cy="4202370"/>
          </a:xfrm>
          <a:prstGeom prst="rect">
            <a:avLst/>
          </a:prstGeom>
        </p:spPr>
      </p:pic>
      <p:sp>
        <p:nvSpPr>
          <p:cNvPr id="40" name="TextBox 39">
            <a:extLst>
              <a:ext uri="{FF2B5EF4-FFF2-40B4-BE49-F238E27FC236}">
                <a16:creationId xmlns:a16="http://schemas.microsoft.com/office/drawing/2014/main" id="{F2474C02-ACE6-352C-8548-0147AFA44678}"/>
              </a:ext>
            </a:extLst>
          </p:cNvPr>
          <p:cNvSpPr txBox="1"/>
          <p:nvPr/>
        </p:nvSpPr>
        <p:spPr>
          <a:xfrm>
            <a:off x="3086100" y="1886942"/>
            <a:ext cx="6667500" cy="4729500"/>
          </a:xfrm>
          <a:prstGeom prst="rect">
            <a:avLst/>
          </a:prstGeom>
          <a:noFill/>
        </p:spPr>
        <p:txBody>
          <a:bodyPr wrap="square" rtlCol="0">
            <a:spAutoFit/>
          </a:bodyPr>
          <a:lstStyle/>
          <a:p>
            <a:pPr algn="l" fontAlgn="base">
              <a:spcAft>
                <a:spcPts val="750"/>
              </a:spcAft>
              <a:buNone/>
            </a:pPr>
            <a:r>
              <a:rPr lang="en-US" sz="2400" b="0" i="0" dirty="0">
                <a:solidFill>
                  <a:srgbClr val="273239"/>
                </a:solidFill>
                <a:effectLst/>
                <a:latin typeface="Nunito" pitchFamily="2" charset="0"/>
              </a:rPr>
              <a:t>Color specification using the RGB model is an </a:t>
            </a:r>
            <a:r>
              <a:rPr lang="en-US" sz="2400" b="1" i="0" dirty="0">
                <a:solidFill>
                  <a:srgbClr val="273239"/>
                </a:solidFill>
                <a:effectLst/>
                <a:latin typeface="Nunito" pitchFamily="2" charset="0"/>
              </a:rPr>
              <a:t>additive process</a:t>
            </a:r>
            <a:r>
              <a:rPr lang="en-US" sz="2400" b="0" i="0" dirty="0">
                <a:solidFill>
                  <a:srgbClr val="273239"/>
                </a:solidFill>
                <a:effectLst/>
                <a:latin typeface="Nunito" pitchFamily="2" charset="0"/>
              </a:rPr>
              <a:t>. We begin with black and add on the appropriate primary components to yield a desired color. The concept RGB color model is used in </a:t>
            </a:r>
            <a:r>
              <a:rPr lang="en-US" sz="2400" b="1" i="0" dirty="0">
                <a:solidFill>
                  <a:srgbClr val="273239"/>
                </a:solidFill>
                <a:effectLst/>
                <a:latin typeface="Nunito" pitchFamily="2" charset="0"/>
              </a:rPr>
              <a:t>Display monitor</a:t>
            </a:r>
            <a:r>
              <a:rPr lang="en-US" sz="2400" b="0" i="0" dirty="0">
                <a:solidFill>
                  <a:srgbClr val="273239"/>
                </a:solidFill>
                <a:effectLst/>
                <a:latin typeface="Nunito" pitchFamily="2" charset="0"/>
              </a:rPr>
              <a:t>. On the other hand, there is a complementary color model known as </a:t>
            </a:r>
            <a:r>
              <a:rPr lang="en-US" sz="2400" b="1" i="0" dirty="0">
                <a:solidFill>
                  <a:srgbClr val="273239"/>
                </a:solidFill>
                <a:effectLst/>
                <a:latin typeface="Nunito" pitchFamily="2" charset="0"/>
              </a:rPr>
              <a:t>CMY color model</a:t>
            </a:r>
            <a:r>
              <a:rPr lang="en-US" sz="2400" b="0" i="0" dirty="0">
                <a:solidFill>
                  <a:srgbClr val="273239"/>
                </a:solidFill>
                <a:effectLst/>
                <a:latin typeface="Nunito" pitchFamily="2" charset="0"/>
              </a:rPr>
              <a:t>. The CMY color model use a </a:t>
            </a:r>
            <a:r>
              <a:rPr lang="en-US" sz="2400" b="1" i="0" dirty="0">
                <a:solidFill>
                  <a:srgbClr val="273239"/>
                </a:solidFill>
                <a:effectLst/>
                <a:latin typeface="Nunito" pitchFamily="2" charset="0"/>
              </a:rPr>
              <a:t>subtraction process</a:t>
            </a:r>
            <a:r>
              <a:rPr lang="en-US" sz="2400" b="0" i="0" dirty="0">
                <a:solidFill>
                  <a:srgbClr val="273239"/>
                </a:solidFill>
                <a:effectLst/>
                <a:latin typeface="Nunito" pitchFamily="2" charset="0"/>
              </a:rPr>
              <a:t> and this concept is used in the </a:t>
            </a:r>
            <a:r>
              <a:rPr lang="en-US" sz="2400" b="1" i="0" dirty="0">
                <a:solidFill>
                  <a:srgbClr val="273239"/>
                </a:solidFill>
                <a:effectLst/>
                <a:latin typeface="Nunito" pitchFamily="2" charset="0"/>
              </a:rPr>
              <a:t>printer</a:t>
            </a:r>
            <a:r>
              <a:rPr lang="en-US" sz="2400" b="0" i="0" dirty="0">
                <a:solidFill>
                  <a:srgbClr val="273239"/>
                </a:solidFill>
                <a:effectLst/>
                <a:latin typeface="Nunito" pitchFamily="2" charset="0"/>
              </a:rPr>
              <a:t>.</a:t>
            </a:r>
          </a:p>
          <a:p>
            <a:pPr algn="l" fontAlgn="base">
              <a:spcAft>
                <a:spcPts val="750"/>
              </a:spcAft>
            </a:pPr>
            <a:r>
              <a:rPr lang="en-US" sz="2400" b="0" i="0" dirty="0">
                <a:solidFill>
                  <a:srgbClr val="273239"/>
                </a:solidFill>
                <a:effectLst/>
                <a:latin typeface="Nunito" pitchFamily="2" charset="0"/>
              </a:rPr>
              <a:t>In CMY model, we begin with white and take away the appropriate primary components to yield a desired color.</a:t>
            </a:r>
          </a:p>
        </p:txBody>
      </p:sp>
      <p:sp>
        <p:nvSpPr>
          <p:cNvPr id="41" name="TextBox 40">
            <a:extLst>
              <a:ext uri="{FF2B5EF4-FFF2-40B4-BE49-F238E27FC236}">
                <a16:creationId xmlns:a16="http://schemas.microsoft.com/office/drawing/2014/main" id="{613C7441-F530-1C3B-2667-69C4B5E4823D}"/>
              </a:ext>
            </a:extLst>
          </p:cNvPr>
          <p:cNvSpPr txBox="1"/>
          <p:nvPr/>
        </p:nvSpPr>
        <p:spPr>
          <a:xfrm>
            <a:off x="2994718" y="6506676"/>
            <a:ext cx="11582400" cy="1631216"/>
          </a:xfrm>
          <a:prstGeom prst="rect">
            <a:avLst/>
          </a:prstGeom>
          <a:noFill/>
        </p:spPr>
        <p:txBody>
          <a:bodyPr wrap="square" rtlCol="0">
            <a:spAutoFit/>
          </a:bodyPr>
          <a:lstStyle/>
          <a:p>
            <a:r>
              <a:rPr lang="en-US" sz="2000" b="1" dirty="0">
                <a:latin typeface="Nunito" pitchFamily="2" charset="0"/>
              </a:rPr>
              <a:t>Example:</a:t>
            </a:r>
          </a:p>
          <a:p>
            <a:r>
              <a:rPr lang="en-US" sz="2000" b="1" dirty="0">
                <a:latin typeface="Nunito" pitchFamily="2" charset="0"/>
              </a:rPr>
              <a:t>If we subtract red from white, what remains consists of green and blue which is cyan. The coordinate system of CMY model use the three primaries’ complementary colors:</a:t>
            </a:r>
          </a:p>
          <a:p>
            <a:endParaRPr lang="en-US" sz="2000" b="1" dirty="0">
              <a:latin typeface="Nunito" pitchFamily="2" charset="0"/>
            </a:endParaRPr>
          </a:p>
          <a:p>
            <a:r>
              <a:rPr lang="en-US" sz="2000" b="1" dirty="0">
                <a:latin typeface="Nunito" pitchFamily="2" charset="0"/>
              </a:rPr>
              <a:t>C(cray), M(magenta) and Y(yellow)</a:t>
            </a:r>
          </a:p>
        </p:txBody>
      </p:sp>
    </p:spTree>
    <p:extLst>
      <p:ext uri="{BB962C8B-B14F-4D97-AF65-F5344CB8AC3E}">
        <p14:creationId xmlns:p14="http://schemas.microsoft.com/office/powerpoint/2010/main" val="256762539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207147" y="-21494367"/>
            <a:ext cx="37154830" cy="54064883"/>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304800" y="2035184"/>
            <a:ext cx="12573000"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3426405" y="1653420"/>
            <a:ext cx="6216802" cy="1399769"/>
            <a:chOff x="0" y="0"/>
            <a:chExt cx="8289070" cy="1866359"/>
          </a:xfrm>
        </p:grpSpPr>
        <p:grpSp>
          <p:nvGrpSpPr>
            <p:cNvPr id="5" name="Group 5"/>
            <p:cNvGrpSpPr/>
            <p:nvPr/>
          </p:nvGrpSpPr>
          <p:grpSpPr>
            <a:xfrm>
              <a:off x="0" y="0"/>
              <a:ext cx="8289070" cy="1866359"/>
              <a:chOff x="0" y="0"/>
              <a:chExt cx="386561" cy="87038"/>
            </a:xfrm>
          </p:grpSpPr>
          <p:sp>
            <p:nvSpPr>
              <p:cNvPr id="6" name="Freeform 6"/>
              <p:cNvSpPr/>
              <p:nvPr/>
            </p:nvSpPr>
            <p:spPr>
              <a:xfrm>
                <a:off x="0" y="0"/>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784589" y="214382"/>
              <a:ext cx="6719891" cy="1428070"/>
            </a:xfrm>
            <a:prstGeom prst="rect">
              <a:avLst/>
            </a:prstGeom>
          </p:spPr>
          <p:txBody>
            <a:bodyPr lIns="0" tIns="0" rIns="0" bIns="0" rtlCol="0" anchor="t">
              <a:spAutoFit/>
            </a:bodyPr>
            <a:lstStyle/>
            <a:p>
              <a:pPr algn="ctr">
                <a:lnSpc>
                  <a:spcPts val="8377"/>
                </a:lnSpc>
              </a:pPr>
              <a:r>
                <a:rPr lang="en-US" sz="6981" dirty="0">
                  <a:solidFill>
                    <a:srgbClr val="000000"/>
                  </a:solidFill>
                  <a:latin typeface="Chewy"/>
                  <a:ea typeface="Chewy"/>
                  <a:cs typeface="Chewy"/>
                  <a:sym typeface="Chewy"/>
                </a:rPr>
                <a:t>Conversion</a:t>
              </a:r>
            </a:p>
          </p:txBody>
        </p:sp>
      </p:grpSp>
      <p:sp>
        <p:nvSpPr>
          <p:cNvPr id="19" name="TextBox 18">
            <a:extLst>
              <a:ext uri="{FF2B5EF4-FFF2-40B4-BE49-F238E27FC236}">
                <a16:creationId xmlns:a16="http://schemas.microsoft.com/office/drawing/2014/main" id="{5E217F5E-B782-C38D-C5D9-B25BC2577A3C}"/>
              </a:ext>
            </a:extLst>
          </p:cNvPr>
          <p:cNvSpPr txBox="1"/>
          <p:nvPr/>
        </p:nvSpPr>
        <p:spPr>
          <a:xfrm>
            <a:off x="957254" y="3197772"/>
            <a:ext cx="11770034" cy="3662541"/>
          </a:xfrm>
          <a:prstGeom prst="rect">
            <a:avLst/>
          </a:prstGeom>
          <a:noFill/>
        </p:spPr>
        <p:txBody>
          <a:bodyPr wrap="square" rtlCol="0">
            <a:spAutoFit/>
          </a:bodyPr>
          <a:lstStyle/>
          <a:p>
            <a:endParaRPr lang="en-US" sz="2400" dirty="0">
              <a:latin typeface="Nunito" pitchFamily="2" charset="0"/>
            </a:endParaRPr>
          </a:p>
          <a:p>
            <a:r>
              <a:rPr lang="en-US" sz="2800" dirty="0">
                <a:latin typeface="Nunito" pitchFamily="2" charset="0"/>
              </a:rPr>
              <a:t>The corner of the CMY color cube that is at (0, 0, 0) corresponds to white, whereas the corner of the cube that is at (1, 1, 1) represents black. The following formulas summarize the conversion between the two </a:t>
            </a:r>
            <a:r>
              <a:rPr lang="en-US" sz="2800" dirty="0" err="1">
                <a:latin typeface="Nunito" pitchFamily="2" charset="0"/>
              </a:rPr>
              <a:t>colour</a:t>
            </a:r>
            <a:r>
              <a:rPr lang="en-US" sz="2800" dirty="0">
                <a:latin typeface="Nunito" pitchFamily="2" charset="0"/>
              </a:rPr>
              <a:t> models:</a:t>
            </a:r>
          </a:p>
          <a:p>
            <a:endParaRPr lang="en-US" sz="2400" dirty="0">
              <a:latin typeface="Nunito" pitchFamily="2" charset="0"/>
            </a:endParaRPr>
          </a:p>
          <a:p>
            <a:endParaRPr lang="en-US" sz="2400" dirty="0">
              <a:latin typeface="Nunito" pitchFamily="2" charset="0"/>
            </a:endParaRPr>
          </a:p>
          <a:p>
            <a:endParaRPr lang="en-US" sz="2400" dirty="0">
              <a:latin typeface="Nunito" pitchFamily="2" charset="0"/>
            </a:endParaRPr>
          </a:p>
          <a:p>
            <a:endParaRPr lang="en-US" sz="2400" dirty="0">
              <a:latin typeface="Nunito" pitchFamily="2" charset="0"/>
            </a:endParaRPr>
          </a:p>
        </p:txBody>
      </p:sp>
      <p:pic>
        <p:nvPicPr>
          <p:cNvPr id="21" name="Picture 20">
            <a:extLst>
              <a:ext uri="{FF2B5EF4-FFF2-40B4-BE49-F238E27FC236}">
                <a16:creationId xmlns:a16="http://schemas.microsoft.com/office/drawing/2014/main" id="{69F8F7F8-53D2-C581-50FF-1B6866D7039C}"/>
              </a:ext>
            </a:extLst>
          </p:cNvPr>
          <p:cNvPicPr>
            <a:picLocks noChangeAspect="1"/>
          </p:cNvPicPr>
          <p:nvPr/>
        </p:nvPicPr>
        <p:blipFill>
          <a:blip r:embed="rId6"/>
          <a:stretch>
            <a:fillRect/>
          </a:stretch>
        </p:blipFill>
        <p:spPr>
          <a:xfrm>
            <a:off x="1676400" y="5372099"/>
            <a:ext cx="9412013" cy="2339667"/>
          </a:xfrm>
          <a:prstGeom prst="rect">
            <a:avLst/>
          </a:prstGeom>
        </p:spPr>
      </p:pic>
      <p:pic>
        <p:nvPicPr>
          <p:cNvPr id="4098" name="Picture 2" descr="RGB color model">
            <a:extLst>
              <a:ext uri="{FF2B5EF4-FFF2-40B4-BE49-F238E27FC236}">
                <a16:creationId xmlns:a16="http://schemas.microsoft.com/office/drawing/2014/main" id="{D8CD0EF6-DB16-B9F0-9215-4ADC7902F7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60013" y="2171700"/>
            <a:ext cx="5675587" cy="60801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5151908" y="2196610"/>
            <a:ext cx="7984184" cy="5893780"/>
          </a:xfrm>
          <a:custGeom>
            <a:avLst/>
            <a:gdLst/>
            <a:ahLst/>
            <a:cxnLst/>
            <a:rect l="l" t="t" r="r" b="b"/>
            <a:pathLst>
              <a:path w="7984184" h="5893780">
                <a:moveTo>
                  <a:pt x="7984184" y="0"/>
                </a:moveTo>
                <a:lnTo>
                  <a:pt x="0" y="0"/>
                </a:lnTo>
                <a:lnTo>
                  <a:pt x="0" y="5893780"/>
                </a:lnTo>
                <a:lnTo>
                  <a:pt x="7984184" y="5893780"/>
                </a:lnTo>
                <a:lnTo>
                  <a:pt x="798418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925545" y="3690971"/>
            <a:ext cx="10436910" cy="2437568"/>
          </a:xfrm>
          <a:prstGeom prst="rect">
            <a:avLst/>
          </a:prstGeom>
        </p:spPr>
        <p:txBody>
          <a:bodyPr lIns="0" tIns="0" rIns="0" bIns="0" rtlCol="0" anchor="t">
            <a:spAutoFit/>
          </a:bodyPr>
          <a:lstStyle/>
          <a:p>
            <a:pPr marL="0" lvl="0" indent="0" algn="ctr">
              <a:lnSpc>
                <a:spcPts val="16927"/>
              </a:lnSpc>
            </a:pPr>
            <a:r>
              <a:rPr lang="en-US" sz="20643" dirty="0">
                <a:solidFill>
                  <a:srgbClr val="FFBB24"/>
                </a:solidFill>
                <a:latin typeface="Chewy"/>
                <a:ea typeface="Chewy"/>
                <a:cs typeface="Chewy"/>
                <a:sym typeface="Chewy"/>
              </a:rPr>
              <a:t>INSIGHTS</a:t>
            </a:r>
          </a:p>
        </p:txBody>
      </p:sp>
      <p:grpSp>
        <p:nvGrpSpPr>
          <p:cNvPr id="5" name="Group 5"/>
          <p:cNvGrpSpPr/>
          <p:nvPr/>
        </p:nvGrpSpPr>
        <p:grpSpPr>
          <a:xfrm>
            <a:off x="7707107" y="5871684"/>
            <a:ext cx="2873786" cy="1052680"/>
            <a:chOff x="0" y="0"/>
            <a:chExt cx="3831714" cy="1403574"/>
          </a:xfrm>
        </p:grpSpPr>
        <p:grpSp>
          <p:nvGrpSpPr>
            <p:cNvPr id="6" name="Group 6"/>
            <p:cNvGrpSpPr/>
            <p:nvPr/>
          </p:nvGrpSpPr>
          <p:grpSpPr>
            <a:xfrm>
              <a:off x="0" y="0"/>
              <a:ext cx="3831714" cy="1403574"/>
              <a:chOff x="0" y="0"/>
              <a:chExt cx="237610" cy="87038"/>
            </a:xfrm>
          </p:grpSpPr>
          <p:sp>
            <p:nvSpPr>
              <p:cNvPr id="7" name="Freeform 7"/>
              <p:cNvSpPr/>
              <p:nvPr/>
            </p:nvSpPr>
            <p:spPr>
              <a:xfrm>
                <a:off x="0" y="0"/>
                <a:ext cx="237610" cy="87038"/>
              </a:xfrm>
              <a:custGeom>
                <a:avLst/>
                <a:gdLst/>
                <a:ahLst/>
                <a:cxnLst/>
                <a:rect l="l" t="t" r="r" b="b"/>
                <a:pathLst>
                  <a:path w="237610" h="87038">
                    <a:moveTo>
                      <a:pt x="43519" y="0"/>
                    </a:moveTo>
                    <a:lnTo>
                      <a:pt x="194091" y="0"/>
                    </a:lnTo>
                    <a:cubicBezTo>
                      <a:pt x="205633" y="0"/>
                      <a:pt x="216703" y="4585"/>
                      <a:pt x="224864" y="12746"/>
                    </a:cubicBezTo>
                    <a:cubicBezTo>
                      <a:pt x="233025" y="20908"/>
                      <a:pt x="237610" y="31977"/>
                      <a:pt x="237610" y="43519"/>
                    </a:cubicBezTo>
                    <a:lnTo>
                      <a:pt x="237610" y="43519"/>
                    </a:lnTo>
                    <a:cubicBezTo>
                      <a:pt x="237610" y="55061"/>
                      <a:pt x="233025" y="66130"/>
                      <a:pt x="224864" y="74291"/>
                    </a:cubicBezTo>
                    <a:cubicBezTo>
                      <a:pt x="216703" y="82453"/>
                      <a:pt x="205633" y="87038"/>
                      <a:pt x="194091"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8" name="TextBox 8"/>
              <p:cNvSpPr txBox="1"/>
              <p:nvPr/>
            </p:nvSpPr>
            <p:spPr>
              <a:xfrm>
                <a:off x="0" y="-57150"/>
                <a:ext cx="237610" cy="144188"/>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362685" y="149337"/>
              <a:ext cx="3106344" cy="1085850"/>
            </a:xfrm>
            <a:prstGeom prst="rect">
              <a:avLst/>
            </a:prstGeom>
          </p:spPr>
          <p:txBody>
            <a:bodyPr lIns="0" tIns="0" rIns="0" bIns="0" rtlCol="0" anchor="t">
              <a:spAutoFit/>
            </a:bodyPr>
            <a:lstStyle/>
            <a:p>
              <a:pPr algn="ctr">
                <a:lnSpc>
                  <a:spcPts val="6300"/>
                </a:lnSpc>
              </a:pPr>
              <a:r>
                <a:rPr lang="en-US" sz="5250">
                  <a:solidFill>
                    <a:srgbClr val="000000"/>
                  </a:solidFill>
                  <a:latin typeface="Chewy"/>
                  <a:ea typeface="Chewy"/>
                  <a:cs typeface="Chewy"/>
                  <a:sym typeface="Chewy"/>
                </a:rPr>
                <a:t>START</a:t>
              </a:r>
            </a:p>
          </p:txBody>
        </p:sp>
      </p:grpSp>
      <p:pic>
        <p:nvPicPr>
          <p:cNvPr id="10" name="Picture 10"/>
          <p:cNvPicPr>
            <a:picLocks noChangeAspect="1"/>
          </p:cNvPicPr>
          <p:nvPr/>
        </p:nvPicPr>
        <p:blipFill>
          <a:blip r:embed="rId6"/>
          <a:srcRect/>
          <a:stretch>
            <a:fillRect/>
          </a:stretch>
        </p:blipFill>
        <p:spPr>
          <a:xfrm>
            <a:off x="14118902" y="2533048"/>
            <a:ext cx="2898269" cy="4391316"/>
          </a:xfrm>
          <a:prstGeom prst="rect">
            <a:avLst/>
          </a:prstGeom>
        </p:spPr>
      </p:pic>
      <p:pic>
        <p:nvPicPr>
          <p:cNvPr id="11" name="Picture 11"/>
          <p:cNvPicPr>
            <a:picLocks noChangeAspect="1"/>
          </p:cNvPicPr>
          <p:nvPr/>
        </p:nvPicPr>
        <p:blipFill>
          <a:blip r:embed="rId6"/>
          <a:srcRect/>
          <a:stretch>
            <a:fillRect/>
          </a:stretch>
        </p:blipFill>
        <p:spPr>
          <a:xfrm flipH="1">
            <a:off x="1267107" y="2533048"/>
            <a:ext cx="2898269" cy="4391316"/>
          </a:xfrm>
          <a:prstGeom prst="rect">
            <a:avLst/>
          </a:prstGeom>
        </p:spPr>
      </p:pic>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a:extLst>
            <a:ext uri="{FF2B5EF4-FFF2-40B4-BE49-F238E27FC236}">
              <a16:creationId xmlns:a16="http://schemas.microsoft.com/office/drawing/2014/main" id="{5C256244-3A12-9C55-358D-78A704FB0B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36FB82-3F35-652D-2C0B-A2F253765CCF}"/>
              </a:ext>
            </a:extLst>
          </p:cNvPr>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15379846-E3DF-4178-975F-1C22B82B2547}"/>
              </a:ext>
            </a:extLst>
          </p:cNvPr>
          <p:cNvSpPr/>
          <p:nvPr/>
        </p:nvSpPr>
        <p:spPr>
          <a:xfrm>
            <a:off x="1960918" y="2385127"/>
            <a:ext cx="14366164"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a:extLst>
              <a:ext uri="{FF2B5EF4-FFF2-40B4-BE49-F238E27FC236}">
                <a16:creationId xmlns:a16="http://schemas.microsoft.com/office/drawing/2014/main" id="{A2856C03-0C32-CAD8-AF73-B451A54D1E1F}"/>
              </a:ext>
            </a:extLst>
          </p:cNvPr>
          <p:cNvGrpSpPr/>
          <p:nvPr/>
        </p:nvGrpSpPr>
        <p:grpSpPr>
          <a:xfrm>
            <a:off x="6035599" y="1685242"/>
            <a:ext cx="6216802" cy="1399769"/>
            <a:chOff x="0" y="0"/>
            <a:chExt cx="8289070" cy="1866359"/>
          </a:xfrm>
        </p:grpSpPr>
        <p:grpSp>
          <p:nvGrpSpPr>
            <p:cNvPr id="5" name="Group 5">
              <a:extLst>
                <a:ext uri="{FF2B5EF4-FFF2-40B4-BE49-F238E27FC236}">
                  <a16:creationId xmlns:a16="http://schemas.microsoft.com/office/drawing/2014/main" id="{B640EC9D-984B-B230-9B2D-29EC8F8416B2}"/>
                </a:ext>
              </a:extLst>
            </p:cNvPr>
            <p:cNvGrpSpPr/>
            <p:nvPr/>
          </p:nvGrpSpPr>
          <p:grpSpPr>
            <a:xfrm>
              <a:off x="0" y="0"/>
              <a:ext cx="8289070" cy="1866359"/>
              <a:chOff x="0" y="0"/>
              <a:chExt cx="386561" cy="87038"/>
            </a:xfrm>
          </p:grpSpPr>
          <p:sp>
            <p:nvSpPr>
              <p:cNvPr id="6" name="Freeform 6">
                <a:extLst>
                  <a:ext uri="{FF2B5EF4-FFF2-40B4-BE49-F238E27FC236}">
                    <a16:creationId xmlns:a16="http://schemas.microsoft.com/office/drawing/2014/main" id="{F1C28F8F-8186-FA36-A819-AFC1B9045936}"/>
                  </a:ext>
                </a:extLst>
              </p:cNvPr>
              <p:cNvSpPr/>
              <p:nvPr/>
            </p:nvSpPr>
            <p:spPr>
              <a:xfrm>
                <a:off x="0" y="0"/>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a:extLst>
                  <a:ext uri="{FF2B5EF4-FFF2-40B4-BE49-F238E27FC236}">
                    <a16:creationId xmlns:a16="http://schemas.microsoft.com/office/drawing/2014/main" id="{C46F56BB-5247-2866-C114-12DAC54B34AB}"/>
                  </a:ext>
                </a:extLst>
              </p:cNvPr>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a:extLst>
                <a:ext uri="{FF2B5EF4-FFF2-40B4-BE49-F238E27FC236}">
                  <a16:creationId xmlns:a16="http://schemas.microsoft.com/office/drawing/2014/main" id="{15C7261C-1A88-BD70-D968-54D2464E12EF}"/>
                </a:ext>
              </a:extLst>
            </p:cNvPr>
            <p:cNvSpPr txBox="1"/>
            <p:nvPr/>
          </p:nvSpPr>
          <p:spPr>
            <a:xfrm>
              <a:off x="784589" y="214382"/>
              <a:ext cx="6719891" cy="1428070"/>
            </a:xfrm>
            <a:prstGeom prst="rect">
              <a:avLst/>
            </a:prstGeom>
          </p:spPr>
          <p:txBody>
            <a:bodyPr lIns="0" tIns="0" rIns="0" bIns="0" rtlCol="0" anchor="t">
              <a:spAutoFit/>
            </a:bodyPr>
            <a:lstStyle/>
            <a:p>
              <a:pPr algn="ctr">
                <a:lnSpc>
                  <a:spcPts val="8377"/>
                </a:lnSpc>
              </a:pPr>
              <a:endParaRPr lang="en-US" sz="6981" dirty="0">
                <a:solidFill>
                  <a:srgbClr val="000000"/>
                </a:solidFill>
                <a:latin typeface="Chewy"/>
                <a:ea typeface="Chewy"/>
                <a:cs typeface="Chewy"/>
                <a:sym typeface="Chewy"/>
              </a:endParaRPr>
            </a:p>
          </p:txBody>
        </p:sp>
      </p:grpSp>
      <p:sp>
        <p:nvSpPr>
          <p:cNvPr id="9" name="TextBox 9">
            <a:extLst>
              <a:ext uri="{FF2B5EF4-FFF2-40B4-BE49-F238E27FC236}">
                <a16:creationId xmlns:a16="http://schemas.microsoft.com/office/drawing/2014/main" id="{1000DF97-83B8-79CA-2F5E-DD0FBF0EB7E9}"/>
              </a:ext>
            </a:extLst>
          </p:cNvPr>
          <p:cNvSpPr txBox="1"/>
          <p:nvPr/>
        </p:nvSpPr>
        <p:spPr>
          <a:xfrm>
            <a:off x="4233339" y="3735258"/>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0" name="TextBox 10">
            <a:extLst>
              <a:ext uri="{FF2B5EF4-FFF2-40B4-BE49-F238E27FC236}">
                <a16:creationId xmlns:a16="http://schemas.microsoft.com/office/drawing/2014/main" id="{6CB5E410-79A5-F83C-7E3C-CAF1C047458B}"/>
              </a:ext>
            </a:extLst>
          </p:cNvPr>
          <p:cNvSpPr txBox="1"/>
          <p:nvPr/>
        </p:nvSpPr>
        <p:spPr>
          <a:xfrm>
            <a:off x="4233339" y="5124473"/>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1" name="TextBox 11">
            <a:extLst>
              <a:ext uri="{FF2B5EF4-FFF2-40B4-BE49-F238E27FC236}">
                <a16:creationId xmlns:a16="http://schemas.microsoft.com/office/drawing/2014/main" id="{052329A8-DE7A-E2DD-AE25-676702FD95C1}"/>
              </a:ext>
            </a:extLst>
          </p:cNvPr>
          <p:cNvSpPr txBox="1"/>
          <p:nvPr/>
        </p:nvSpPr>
        <p:spPr>
          <a:xfrm>
            <a:off x="4233339" y="6514512"/>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22" name="TextBox 21">
            <a:extLst>
              <a:ext uri="{FF2B5EF4-FFF2-40B4-BE49-F238E27FC236}">
                <a16:creationId xmlns:a16="http://schemas.microsoft.com/office/drawing/2014/main" id="{3926AFAD-B17B-5EC6-FCBE-5B84A2861B5A}"/>
              </a:ext>
            </a:extLst>
          </p:cNvPr>
          <p:cNvSpPr txBox="1"/>
          <p:nvPr/>
        </p:nvSpPr>
        <p:spPr>
          <a:xfrm>
            <a:off x="2743200" y="1703185"/>
            <a:ext cx="12469090" cy="1074653"/>
          </a:xfrm>
          <a:prstGeom prst="rect">
            <a:avLst/>
          </a:prstGeom>
          <a:noFill/>
        </p:spPr>
        <p:txBody>
          <a:bodyPr wrap="square">
            <a:spAutoFit/>
          </a:bodyPr>
          <a:lstStyle/>
          <a:p>
            <a:pPr algn="ctr">
              <a:lnSpc>
                <a:spcPts val="8377"/>
              </a:lnSpc>
            </a:pPr>
            <a:r>
              <a:rPr lang="en-US" sz="4800" dirty="0">
                <a:solidFill>
                  <a:srgbClr val="000000"/>
                </a:solidFill>
                <a:latin typeface="Chewy"/>
                <a:ea typeface="Chewy"/>
                <a:cs typeface="Chewy"/>
                <a:sym typeface="Chewy"/>
              </a:rPr>
              <a:t>ADVANTAGES</a:t>
            </a:r>
          </a:p>
        </p:txBody>
      </p:sp>
      <p:sp>
        <p:nvSpPr>
          <p:cNvPr id="12" name="TextBox 11">
            <a:extLst>
              <a:ext uri="{FF2B5EF4-FFF2-40B4-BE49-F238E27FC236}">
                <a16:creationId xmlns:a16="http://schemas.microsoft.com/office/drawing/2014/main" id="{14FA67E1-FC4D-EB6F-9186-AE78A1829C8D}"/>
              </a:ext>
            </a:extLst>
          </p:cNvPr>
          <p:cNvSpPr txBox="1"/>
          <p:nvPr/>
        </p:nvSpPr>
        <p:spPr>
          <a:xfrm>
            <a:off x="3034145" y="3257252"/>
            <a:ext cx="11887200" cy="5016758"/>
          </a:xfrm>
          <a:prstGeom prst="rect">
            <a:avLst/>
          </a:prstGeom>
          <a:noFill/>
        </p:spPr>
        <p:txBody>
          <a:bodyPr wrap="square" rtlCol="0">
            <a:spAutoFit/>
          </a:bodyPr>
          <a:lstStyle/>
          <a:p>
            <a:pPr marL="457200" indent="-457200">
              <a:buFont typeface="Wingdings" panose="05000000000000000000" pitchFamily="2" charset="2"/>
              <a:buChar char="ü"/>
            </a:pPr>
            <a:r>
              <a:rPr lang="en-US" sz="3200" dirty="0">
                <a:latin typeface="Nunito" pitchFamily="2" charset="0"/>
              </a:rPr>
              <a:t>Ideal for digital displays: Matches how screens emit light.</a:t>
            </a:r>
          </a:p>
          <a:p>
            <a:pPr marL="457200" indent="-457200">
              <a:buFont typeface="Wingdings" panose="05000000000000000000" pitchFamily="2" charset="2"/>
              <a:buChar char="ü"/>
            </a:pPr>
            <a:endParaRPr lang="en-US" sz="3200" dirty="0">
              <a:latin typeface="Nunito" pitchFamily="2" charset="0"/>
            </a:endParaRPr>
          </a:p>
          <a:p>
            <a:pPr marL="457200" indent="-457200">
              <a:buFont typeface="Wingdings" panose="05000000000000000000" pitchFamily="2" charset="2"/>
              <a:buChar char="ü"/>
            </a:pPr>
            <a:r>
              <a:rPr lang="en-US" sz="3200" dirty="0">
                <a:latin typeface="Nunito" pitchFamily="2" charset="0"/>
              </a:rPr>
              <a:t>Wide color range: Capable of producing millions of colors.</a:t>
            </a:r>
          </a:p>
          <a:p>
            <a:pPr marL="457200" indent="-457200">
              <a:buFont typeface="Wingdings" panose="05000000000000000000" pitchFamily="2" charset="2"/>
              <a:buChar char="ü"/>
            </a:pPr>
            <a:endParaRPr lang="en-US" sz="3200" dirty="0">
              <a:latin typeface="Nunito" pitchFamily="2" charset="0"/>
            </a:endParaRPr>
          </a:p>
          <a:p>
            <a:pPr marL="457200" indent="-457200">
              <a:buFont typeface="Wingdings" panose="05000000000000000000" pitchFamily="2" charset="2"/>
              <a:buChar char="ü"/>
            </a:pPr>
            <a:r>
              <a:rPr lang="en-US" sz="3200" dirty="0">
                <a:latin typeface="Nunito" pitchFamily="2" charset="0"/>
              </a:rPr>
              <a:t>Simple to implement in software and hardware.</a:t>
            </a:r>
          </a:p>
          <a:p>
            <a:pPr marL="457200" indent="-457200">
              <a:buFont typeface="Wingdings" panose="05000000000000000000" pitchFamily="2" charset="2"/>
              <a:buChar char="ü"/>
            </a:pPr>
            <a:endParaRPr lang="en-US" sz="3200" dirty="0">
              <a:latin typeface="Nunito" pitchFamily="2" charset="0"/>
            </a:endParaRPr>
          </a:p>
          <a:p>
            <a:pPr marL="457200" indent="-457200">
              <a:buFont typeface="Wingdings" panose="05000000000000000000" pitchFamily="2" charset="2"/>
              <a:buChar char="ü"/>
            </a:pPr>
            <a:r>
              <a:rPr lang="en-US" sz="3200" dirty="0">
                <a:latin typeface="Nunito" pitchFamily="2" charset="0"/>
              </a:rPr>
              <a:t>Additive nature: Easy to combine light to get desired colors.</a:t>
            </a:r>
          </a:p>
          <a:p>
            <a:pPr marL="457200" indent="-457200">
              <a:buFont typeface="Wingdings" panose="05000000000000000000" pitchFamily="2" charset="2"/>
              <a:buChar char="ü"/>
            </a:pPr>
            <a:endParaRPr lang="en-US" sz="3200" dirty="0">
              <a:latin typeface="Nunito" pitchFamily="2" charset="0"/>
            </a:endParaRPr>
          </a:p>
          <a:p>
            <a:pPr marL="457200" indent="-457200">
              <a:buFont typeface="Wingdings" panose="05000000000000000000" pitchFamily="2" charset="2"/>
              <a:buChar char="ü"/>
            </a:pPr>
            <a:r>
              <a:rPr lang="en-US" sz="3200" dirty="0">
                <a:latin typeface="Nunito" pitchFamily="2" charset="0"/>
              </a:rPr>
              <a:t>Compatible with most image file formats (JPEG, PNG, BMP, etc.).</a:t>
            </a:r>
          </a:p>
        </p:txBody>
      </p:sp>
    </p:spTree>
    <p:extLst>
      <p:ext uri="{BB962C8B-B14F-4D97-AF65-F5344CB8AC3E}">
        <p14:creationId xmlns:p14="http://schemas.microsoft.com/office/powerpoint/2010/main" val="2417221458"/>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1960918" y="2385127"/>
            <a:ext cx="14366164"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6035599" y="1685242"/>
            <a:ext cx="6216802" cy="1399769"/>
            <a:chOff x="0" y="0"/>
            <a:chExt cx="8289070" cy="1866359"/>
          </a:xfrm>
        </p:grpSpPr>
        <p:grpSp>
          <p:nvGrpSpPr>
            <p:cNvPr id="5" name="Group 5"/>
            <p:cNvGrpSpPr/>
            <p:nvPr/>
          </p:nvGrpSpPr>
          <p:grpSpPr>
            <a:xfrm>
              <a:off x="0" y="0"/>
              <a:ext cx="8289070" cy="1866359"/>
              <a:chOff x="0" y="0"/>
              <a:chExt cx="386561" cy="87038"/>
            </a:xfrm>
          </p:grpSpPr>
          <p:sp>
            <p:nvSpPr>
              <p:cNvPr id="6" name="Freeform 6"/>
              <p:cNvSpPr/>
              <p:nvPr/>
            </p:nvSpPr>
            <p:spPr>
              <a:xfrm>
                <a:off x="0" y="0"/>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784589" y="214382"/>
              <a:ext cx="6719891" cy="1428070"/>
            </a:xfrm>
            <a:prstGeom prst="rect">
              <a:avLst/>
            </a:prstGeom>
          </p:spPr>
          <p:txBody>
            <a:bodyPr lIns="0" tIns="0" rIns="0" bIns="0" rtlCol="0" anchor="t">
              <a:spAutoFit/>
            </a:bodyPr>
            <a:lstStyle/>
            <a:p>
              <a:pPr algn="ctr">
                <a:lnSpc>
                  <a:spcPts val="8377"/>
                </a:lnSpc>
              </a:pPr>
              <a:endParaRPr lang="en-US" sz="6981" dirty="0">
                <a:solidFill>
                  <a:srgbClr val="000000"/>
                </a:solidFill>
                <a:latin typeface="Chewy"/>
                <a:ea typeface="Chewy"/>
                <a:cs typeface="Chewy"/>
                <a:sym typeface="Chewy"/>
              </a:endParaRPr>
            </a:p>
          </p:txBody>
        </p:sp>
      </p:grpSp>
      <p:sp>
        <p:nvSpPr>
          <p:cNvPr id="9" name="TextBox 9"/>
          <p:cNvSpPr txBox="1"/>
          <p:nvPr/>
        </p:nvSpPr>
        <p:spPr>
          <a:xfrm>
            <a:off x="4233339" y="3735258"/>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0" name="TextBox 10"/>
          <p:cNvSpPr txBox="1"/>
          <p:nvPr/>
        </p:nvSpPr>
        <p:spPr>
          <a:xfrm>
            <a:off x="4233339" y="5124473"/>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1" name="TextBox 11"/>
          <p:cNvSpPr txBox="1"/>
          <p:nvPr/>
        </p:nvSpPr>
        <p:spPr>
          <a:xfrm>
            <a:off x="4233339" y="6514512"/>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22" name="TextBox 21">
            <a:extLst>
              <a:ext uri="{FF2B5EF4-FFF2-40B4-BE49-F238E27FC236}">
                <a16:creationId xmlns:a16="http://schemas.microsoft.com/office/drawing/2014/main" id="{C47CCE74-7851-3532-9F1B-F88952F725A3}"/>
              </a:ext>
            </a:extLst>
          </p:cNvPr>
          <p:cNvSpPr txBox="1"/>
          <p:nvPr/>
        </p:nvSpPr>
        <p:spPr>
          <a:xfrm>
            <a:off x="2743200" y="1703185"/>
            <a:ext cx="12469090" cy="1074653"/>
          </a:xfrm>
          <a:prstGeom prst="rect">
            <a:avLst/>
          </a:prstGeom>
          <a:noFill/>
        </p:spPr>
        <p:txBody>
          <a:bodyPr wrap="square">
            <a:spAutoFit/>
          </a:bodyPr>
          <a:lstStyle/>
          <a:p>
            <a:pPr algn="ctr">
              <a:lnSpc>
                <a:spcPts val="8377"/>
              </a:lnSpc>
            </a:pPr>
            <a:r>
              <a:rPr lang="en-US" sz="4800" dirty="0">
                <a:solidFill>
                  <a:srgbClr val="000000"/>
                </a:solidFill>
                <a:latin typeface="Chewy"/>
                <a:ea typeface="Chewy"/>
                <a:cs typeface="Chewy"/>
                <a:sym typeface="Chewy"/>
              </a:rPr>
              <a:t>DISADVANTAGES</a:t>
            </a:r>
          </a:p>
        </p:txBody>
      </p:sp>
      <p:sp>
        <p:nvSpPr>
          <p:cNvPr id="12" name="TextBox 11">
            <a:extLst>
              <a:ext uri="{FF2B5EF4-FFF2-40B4-BE49-F238E27FC236}">
                <a16:creationId xmlns:a16="http://schemas.microsoft.com/office/drawing/2014/main" id="{1BB807F3-0B44-9D90-C44E-5A1D1D47F2B2}"/>
              </a:ext>
            </a:extLst>
          </p:cNvPr>
          <p:cNvSpPr txBox="1"/>
          <p:nvPr/>
        </p:nvSpPr>
        <p:spPr>
          <a:xfrm>
            <a:off x="3581400" y="3416966"/>
            <a:ext cx="11887200" cy="4401205"/>
          </a:xfrm>
          <a:prstGeom prst="rect">
            <a:avLst/>
          </a:prstGeom>
          <a:noFill/>
        </p:spPr>
        <p:txBody>
          <a:bodyPr wrap="square" rtlCol="0">
            <a:spAutoFit/>
          </a:bodyPr>
          <a:lstStyle/>
          <a:p>
            <a:pPr marL="457200" indent="-457200">
              <a:buFont typeface="Wingdings" panose="05000000000000000000" pitchFamily="2" charset="2"/>
              <a:buChar char="ü"/>
            </a:pPr>
            <a:r>
              <a:rPr lang="en-US" sz="2800" dirty="0">
                <a:latin typeface="Nunito" pitchFamily="2" charset="0"/>
              </a:rPr>
              <a:t>Device-dependent: RGB values may vary between devices.</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Not suitable for print media (needs conversion to CMYK).</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Less intuitive for human understanding and color adjustment.</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Doesn’t represent perceptual uniformity (small RGB changes ≠ noticeable color changes).</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Can be inefficient for color correction and scientific color analysis.</a:t>
            </a: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a:extLst>
            <a:ext uri="{FF2B5EF4-FFF2-40B4-BE49-F238E27FC236}">
              <a16:creationId xmlns:a16="http://schemas.microsoft.com/office/drawing/2014/main" id="{4971B99F-7F48-4213-E25B-5EC10003A9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344CA1-8B82-0E61-C535-41A12386BE57}"/>
              </a:ext>
            </a:extLst>
          </p:cNvPr>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66FE9AC6-16D4-C131-6C1A-8696357B528A}"/>
              </a:ext>
            </a:extLst>
          </p:cNvPr>
          <p:cNvSpPr/>
          <p:nvPr/>
        </p:nvSpPr>
        <p:spPr>
          <a:xfrm>
            <a:off x="1960918" y="2385127"/>
            <a:ext cx="14366164" cy="6216631"/>
          </a:xfrm>
          <a:custGeom>
            <a:avLst/>
            <a:gdLst/>
            <a:ahLst/>
            <a:cxnLst/>
            <a:rect l="l" t="t" r="r" b="b"/>
            <a:pathLst>
              <a:path w="14366164" h="6216631">
                <a:moveTo>
                  <a:pt x="0" y="0"/>
                </a:moveTo>
                <a:lnTo>
                  <a:pt x="14366164" y="0"/>
                </a:lnTo>
                <a:lnTo>
                  <a:pt x="14366164" y="6216631"/>
                </a:lnTo>
                <a:lnTo>
                  <a:pt x="0" y="62166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a:extLst>
              <a:ext uri="{FF2B5EF4-FFF2-40B4-BE49-F238E27FC236}">
                <a16:creationId xmlns:a16="http://schemas.microsoft.com/office/drawing/2014/main" id="{EE26BCBD-631C-FF54-4AA7-D864256C5317}"/>
              </a:ext>
            </a:extLst>
          </p:cNvPr>
          <p:cNvGrpSpPr/>
          <p:nvPr/>
        </p:nvGrpSpPr>
        <p:grpSpPr>
          <a:xfrm>
            <a:off x="6035599" y="1685242"/>
            <a:ext cx="6216802" cy="1399769"/>
            <a:chOff x="0" y="0"/>
            <a:chExt cx="8289070" cy="1866359"/>
          </a:xfrm>
        </p:grpSpPr>
        <p:grpSp>
          <p:nvGrpSpPr>
            <p:cNvPr id="5" name="Group 5">
              <a:extLst>
                <a:ext uri="{FF2B5EF4-FFF2-40B4-BE49-F238E27FC236}">
                  <a16:creationId xmlns:a16="http://schemas.microsoft.com/office/drawing/2014/main" id="{9A7C9103-18BB-2885-7D1D-7A4E28FD52BD}"/>
                </a:ext>
              </a:extLst>
            </p:cNvPr>
            <p:cNvGrpSpPr/>
            <p:nvPr/>
          </p:nvGrpSpPr>
          <p:grpSpPr>
            <a:xfrm>
              <a:off x="0" y="0"/>
              <a:ext cx="8289070" cy="1866359"/>
              <a:chOff x="0" y="0"/>
              <a:chExt cx="386561" cy="87038"/>
            </a:xfrm>
          </p:grpSpPr>
          <p:sp>
            <p:nvSpPr>
              <p:cNvPr id="6" name="Freeform 6">
                <a:extLst>
                  <a:ext uri="{FF2B5EF4-FFF2-40B4-BE49-F238E27FC236}">
                    <a16:creationId xmlns:a16="http://schemas.microsoft.com/office/drawing/2014/main" id="{C48278EE-E0C4-B384-DB2D-232B91DAB8F3}"/>
                  </a:ext>
                </a:extLst>
              </p:cNvPr>
              <p:cNvSpPr/>
              <p:nvPr/>
            </p:nvSpPr>
            <p:spPr>
              <a:xfrm>
                <a:off x="0" y="0"/>
                <a:ext cx="386561" cy="87038"/>
              </a:xfrm>
              <a:custGeom>
                <a:avLst/>
                <a:gdLst/>
                <a:ahLst/>
                <a:cxnLst/>
                <a:rect l="l" t="t" r="r" b="b"/>
                <a:pathLst>
                  <a:path w="386561" h="87038">
                    <a:moveTo>
                      <a:pt x="43519" y="0"/>
                    </a:moveTo>
                    <a:lnTo>
                      <a:pt x="343042" y="0"/>
                    </a:lnTo>
                    <a:cubicBezTo>
                      <a:pt x="354584" y="0"/>
                      <a:pt x="365653" y="4585"/>
                      <a:pt x="373815" y="12746"/>
                    </a:cubicBezTo>
                    <a:cubicBezTo>
                      <a:pt x="381976" y="20908"/>
                      <a:pt x="386561" y="31977"/>
                      <a:pt x="386561" y="43519"/>
                    </a:cubicBezTo>
                    <a:lnTo>
                      <a:pt x="386561" y="43519"/>
                    </a:lnTo>
                    <a:cubicBezTo>
                      <a:pt x="386561" y="55061"/>
                      <a:pt x="381976" y="66130"/>
                      <a:pt x="373815" y="74291"/>
                    </a:cubicBezTo>
                    <a:cubicBezTo>
                      <a:pt x="365653" y="82453"/>
                      <a:pt x="354584" y="87038"/>
                      <a:pt x="343042"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sp>
          <p:sp>
            <p:nvSpPr>
              <p:cNvPr id="7" name="TextBox 7">
                <a:extLst>
                  <a:ext uri="{FF2B5EF4-FFF2-40B4-BE49-F238E27FC236}">
                    <a16:creationId xmlns:a16="http://schemas.microsoft.com/office/drawing/2014/main" id="{3AEE5B15-1A3E-A002-439E-4E5931B3E36D}"/>
                  </a:ext>
                </a:extLst>
              </p:cNvPr>
              <p:cNvSpPr txBox="1"/>
              <p:nvPr/>
            </p:nvSpPr>
            <p:spPr>
              <a:xfrm>
                <a:off x="0" y="-57150"/>
                <a:ext cx="386561" cy="144188"/>
              </a:xfrm>
              <a:prstGeom prst="rect">
                <a:avLst/>
              </a:prstGeom>
            </p:spPr>
            <p:txBody>
              <a:bodyPr lIns="50800" tIns="50800" rIns="50800" bIns="50800" rtlCol="0" anchor="ctr"/>
              <a:lstStyle/>
              <a:p>
                <a:pPr algn="ctr">
                  <a:lnSpc>
                    <a:spcPts val="3500"/>
                  </a:lnSpc>
                </a:pPr>
                <a:endParaRPr/>
              </a:p>
            </p:txBody>
          </p:sp>
        </p:grpSp>
        <p:sp>
          <p:nvSpPr>
            <p:cNvPr id="8" name="TextBox 8">
              <a:extLst>
                <a:ext uri="{FF2B5EF4-FFF2-40B4-BE49-F238E27FC236}">
                  <a16:creationId xmlns:a16="http://schemas.microsoft.com/office/drawing/2014/main" id="{A03C3EC5-88D1-239B-8968-229B16C0D3A4}"/>
                </a:ext>
              </a:extLst>
            </p:cNvPr>
            <p:cNvSpPr txBox="1"/>
            <p:nvPr/>
          </p:nvSpPr>
          <p:spPr>
            <a:xfrm>
              <a:off x="784589" y="214382"/>
              <a:ext cx="6719891" cy="1428070"/>
            </a:xfrm>
            <a:prstGeom prst="rect">
              <a:avLst/>
            </a:prstGeom>
          </p:spPr>
          <p:txBody>
            <a:bodyPr lIns="0" tIns="0" rIns="0" bIns="0" rtlCol="0" anchor="t">
              <a:spAutoFit/>
            </a:bodyPr>
            <a:lstStyle/>
            <a:p>
              <a:pPr algn="ctr">
                <a:lnSpc>
                  <a:spcPts val="8377"/>
                </a:lnSpc>
              </a:pPr>
              <a:endParaRPr lang="en-US" sz="6981" dirty="0">
                <a:solidFill>
                  <a:srgbClr val="000000"/>
                </a:solidFill>
                <a:latin typeface="Chewy"/>
                <a:ea typeface="Chewy"/>
                <a:cs typeface="Chewy"/>
                <a:sym typeface="Chewy"/>
              </a:endParaRPr>
            </a:p>
          </p:txBody>
        </p:sp>
      </p:grpSp>
      <p:sp>
        <p:nvSpPr>
          <p:cNvPr id="9" name="TextBox 9">
            <a:extLst>
              <a:ext uri="{FF2B5EF4-FFF2-40B4-BE49-F238E27FC236}">
                <a16:creationId xmlns:a16="http://schemas.microsoft.com/office/drawing/2014/main" id="{78884FBE-3048-D087-B739-DF8EB329503F}"/>
              </a:ext>
            </a:extLst>
          </p:cNvPr>
          <p:cNvSpPr txBox="1"/>
          <p:nvPr/>
        </p:nvSpPr>
        <p:spPr>
          <a:xfrm>
            <a:off x="4233339" y="3735258"/>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0" name="TextBox 10">
            <a:extLst>
              <a:ext uri="{FF2B5EF4-FFF2-40B4-BE49-F238E27FC236}">
                <a16:creationId xmlns:a16="http://schemas.microsoft.com/office/drawing/2014/main" id="{046F5CF2-E932-3223-6F55-9E1E1DABC6AB}"/>
              </a:ext>
            </a:extLst>
          </p:cNvPr>
          <p:cNvSpPr txBox="1"/>
          <p:nvPr/>
        </p:nvSpPr>
        <p:spPr>
          <a:xfrm>
            <a:off x="4233339" y="5124473"/>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11" name="TextBox 11">
            <a:extLst>
              <a:ext uri="{FF2B5EF4-FFF2-40B4-BE49-F238E27FC236}">
                <a16:creationId xmlns:a16="http://schemas.microsoft.com/office/drawing/2014/main" id="{AA6C1A49-099A-F12A-2D7F-09A13A7A731D}"/>
              </a:ext>
            </a:extLst>
          </p:cNvPr>
          <p:cNvSpPr txBox="1"/>
          <p:nvPr/>
        </p:nvSpPr>
        <p:spPr>
          <a:xfrm>
            <a:off x="4233339" y="6514512"/>
            <a:ext cx="3602537" cy="1000821"/>
          </a:xfrm>
          <a:prstGeom prst="rect">
            <a:avLst/>
          </a:prstGeom>
        </p:spPr>
        <p:txBody>
          <a:bodyPr lIns="0" tIns="0" rIns="0" bIns="0" rtlCol="0" anchor="t">
            <a:spAutoFit/>
          </a:bodyPr>
          <a:lstStyle/>
          <a:p>
            <a:pPr algn="l">
              <a:lnSpc>
                <a:spcPts val="7872"/>
              </a:lnSpc>
            </a:pPr>
            <a:endParaRPr lang="en-US" sz="6560" dirty="0">
              <a:solidFill>
                <a:srgbClr val="000000"/>
              </a:solidFill>
              <a:latin typeface="Chewy"/>
              <a:ea typeface="Chewy"/>
              <a:cs typeface="Chewy"/>
              <a:sym typeface="Chewy"/>
            </a:endParaRPr>
          </a:p>
        </p:txBody>
      </p:sp>
      <p:sp>
        <p:nvSpPr>
          <p:cNvPr id="22" name="TextBox 21">
            <a:extLst>
              <a:ext uri="{FF2B5EF4-FFF2-40B4-BE49-F238E27FC236}">
                <a16:creationId xmlns:a16="http://schemas.microsoft.com/office/drawing/2014/main" id="{B8FA052D-7326-44D3-FA1A-9FE94E856C43}"/>
              </a:ext>
            </a:extLst>
          </p:cNvPr>
          <p:cNvSpPr txBox="1"/>
          <p:nvPr/>
        </p:nvSpPr>
        <p:spPr>
          <a:xfrm>
            <a:off x="2743200" y="1703185"/>
            <a:ext cx="12469090" cy="1074653"/>
          </a:xfrm>
          <a:prstGeom prst="rect">
            <a:avLst/>
          </a:prstGeom>
          <a:noFill/>
        </p:spPr>
        <p:txBody>
          <a:bodyPr wrap="square">
            <a:spAutoFit/>
          </a:bodyPr>
          <a:lstStyle/>
          <a:p>
            <a:pPr algn="ctr">
              <a:lnSpc>
                <a:spcPts val="8377"/>
              </a:lnSpc>
            </a:pPr>
            <a:r>
              <a:rPr lang="en-US" sz="4800" dirty="0">
                <a:solidFill>
                  <a:srgbClr val="000000"/>
                </a:solidFill>
                <a:latin typeface="Chewy"/>
                <a:ea typeface="Chewy"/>
                <a:cs typeface="Chewy"/>
                <a:sym typeface="Chewy"/>
              </a:rPr>
              <a:t>APPLICATIONS</a:t>
            </a:r>
          </a:p>
        </p:txBody>
      </p:sp>
      <p:sp>
        <p:nvSpPr>
          <p:cNvPr id="12" name="TextBox 11">
            <a:extLst>
              <a:ext uri="{FF2B5EF4-FFF2-40B4-BE49-F238E27FC236}">
                <a16:creationId xmlns:a16="http://schemas.microsoft.com/office/drawing/2014/main" id="{82261523-3347-34E6-EF62-F4AEA7C92574}"/>
              </a:ext>
            </a:extLst>
          </p:cNvPr>
          <p:cNvSpPr txBox="1"/>
          <p:nvPr/>
        </p:nvSpPr>
        <p:spPr>
          <a:xfrm>
            <a:off x="3020290" y="3735258"/>
            <a:ext cx="12192000" cy="3970318"/>
          </a:xfrm>
          <a:prstGeom prst="rect">
            <a:avLst/>
          </a:prstGeom>
          <a:noFill/>
        </p:spPr>
        <p:txBody>
          <a:bodyPr wrap="square" rtlCol="0">
            <a:spAutoFit/>
          </a:bodyPr>
          <a:lstStyle/>
          <a:p>
            <a:pPr marL="457200" indent="-457200">
              <a:buFont typeface="Wingdings" panose="05000000000000000000" pitchFamily="2" charset="2"/>
              <a:buChar char="ü"/>
            </a:pPr>
            <a:r>
              <a:rPr lang="en-US" sz="2800" dirty="0">
                <a:latin typeface="Nunito" pitchFamily="2" charset="0"/>
              </a:rPr>
              <a:t>Used in digital screens: TVs, monitors, smartphones, tablets.</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Web design and development (HTML/CSS colors use RGB).</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Computer graphics and image editing software (e.g., Photoshop).</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Video games and animation rendering.</a:t>
            </a:r>
          </a:p>
          <a:p>
            <a:pPr marL="457200" indent="-457200">
              <a:buFont typeface="Wingdings" panose="05000000000000000000" pitchFamily="2" charset="2"/>
              <a:buChar char="ü"/>
            </a:pPr>
            <a:endParaRPr lang="en-US" sz="2800" dirty="0">
              <a:latin typeface="Nunito" pitchFamily="2" charset="0"/>
            </a:endParaRPr>
          </a:p>
          <a:p>
            <a:pPr marL="457200" indent="-457200">
              <a:buFont typeface="Wingdings" panose="05000000000000000000" pitchFamily="2" charset="2"/>
              <a:buChar char="ü"/>
            </a:pPr>
            <a:r>
              <a:rPr lang="en-US" sz="2800" dirty="0">
                <a:latin typeface="Nunito" pitchFamily="2" charset="0"/>
              </a:rPr>
              <a:t>Digital cameras and scanners for image capture.</a:t>
            </a:r>
          </a:p>
        </p:txBody>
      </p:sp>
    </p:spTree>
    <p:extLst>
      <p:ext uri="{BB962C8B-B14F-4D97-AF65-F5344CB8AC3E}">
        <p14:creationId xmlns:p14="http://schemas.microsoft.com/office/powerpoint/2010/main" val="27695868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362200" y="419100"/>
            <a:ext cx="14325600" cy="8458199"/>
          </a:xfrm>
          <a:custGeom>
            <a:avLst/>
            <a:gdLst/>
            <a:ahLst/>
            <a:cxnLst/>
            <a:rect l="l" t="t" r="r" b="b"/>
            <a:pathLst>
              <a:path w="11752686" h="6175502">
                <a:moveTo>
                  <a:pt x="0" y="0"/>
                </a:moveTo>
                <a:lnTo>
                  <a:pt x="11752686" y="0"/>
                </a:lnTo>
                <a:lnTo>
                  <a:pt x="11752686" y="6175502"/>
                </a:lnTo>
                <a:lnTo>
                  <a:pt x="0" y="6175502"/>
                </a:lnTo>
                <a:lnTo>
                  <a:pt x="0" y="0"/>
                </a:lnTo>
                <a:close/>
              </a:path>
            </a:pathLst>
          </a:custGeom>
          <a:pattFill prst="ltUpDiag">
            <a:fgClr>
              <a:schemeClr val="accent1"/>
            </a:fgClr>
            <a:bgClr>
              <a:schemeClr val="bg1"/>
            </a:bgClr>
          </a:pattFill>
        </p:spPr>
      </p:sp>
      <p:pic>
        <p:nvPicPr>
          <p:cNvPr id="44" name="Picture 44"/>
          <p:cNvPicPr>
            <a:picLocks noChangeAspect="1"/>
          </p:cNvPicPr>
          <p:nvPr/>
        </p:nvPicPr>
        <p:blipFill>
          <a:blip r:embed="rId4"/>
          <a:srcRect/>
          <a:stretch>
            <a:fillRect/>
          </a:stretch>
        </p:blipFill>
        <p:spPr>
          <a:xfrm rot="-492148">
            <a:off x="15334962" y="7508782"/>
            <a:ext cx="2970903" cy="2436140"/>
          </a:xfrm>
          <a:prstGeom prst="rect">
            <a:avLst/>
          </a:prstGeom>
        </p:spPr>
      </p:pic>
      <p:pic>
        <p:nvPicPr>
          <p:cNvPr id="45" name="Picture 45"/>
          <p:cNvPicPr>
            <a:picLocks noChangeAspect="1"/>
          </p:cNvPicPr>
          <p:nvPr/>
        </p:nvPicPr>
        <p:blipFill>
          <a:blip r:embed="rId5"/>
          <a:srcRect/>
          <a:stretch>
            <a:fillRect/>
          </a:stretch>
        </p:blipFill>
        <p:spPr>
          <a:xfrm rot="1199886">
            <a:off x="214622" y="281044"/>
            <a:ext cx="2086893" cy="2514330"/>
          </a:xfrm>
          <a:prstGeom prst="rect">
            <a:avLst/>
          </a:prstGeom>
        </p:spPr>
      </p:pic>
      <p:pic>
        <p:nvPicPr>
          <p:cNvPr id="46" name="Picture 45">
            <a:extLst>
              <a:ext uri="{FF2B5EF4-FFF2-40B4-BE49-F238E27FC236}">
                <a16:creationId xmlns:a16="http://schemas.microsoft.com/office/drawing/2014/main" id="{197EFB51-EB8B-AF53-5098-C211C66CC4B8}"/>
              </a:ext>
            </a:extLst>
          </p:cNvPr>
          <p:cNvPicPr>
            <a:picLocks noChangeAspect="1"/>
          </p:cNvPicPr>
          <p:nvPr/>
        </p:nvPicPr>
        <p:blipFill>
          <a:blip r:embed="rId6"/>
          <a:stretch>
            <a:fillRect/>
          </a:stretch>
        </p:blipFill>
        <p:spPr>
          <a:xfrm rot="9028640">
            <a:off x="16301797" y="-29557"/>
            <a:ext cx="2218669" cy="2419930"/>
          </a:xfrm>
          <a:prstGeom prst="rect">
            <a:avLst/>
          </a:prstGeom>
        </p:spPr>
      </p:pic>
      <p:graphicFrame>
        <p:nvGraphicFramePr>
          <p:cNvPr id="47" name="Table 46">
            <a:extLst>
              <a:ext uri="{FF2B5EF4-FFF2-40B4-BE49-F238E27FC236}">
                <a16:creationId xmlns:a16="http://schemas.microsoft.com/office/drawing/2014/main" id="{CC445FD7-1A51-D84F-C620-17F2361DA0F0}"/>
              </a:ext>
            </a:extLst>
          </p:cNvPr>
          <p:cNvGraphicFramePr>
            <a:graphicFrameLocks noGrp="1"/>
          </p:cNvGraphicFramePr>
          <p:nvPr>
            <p:extLst>
              <p:ext uri="{D42A27DB-BD31-4B8C-83A1-F6EECF244321}">
                <p14:modId xmlns:p14="http://schemas.microsoft.com/office/powerpoint/2010/main" val="1223752539"/>
              </p:ext>
            </p:extLst>
          </p:nvPr>
        </p:nvGraphicFramePr>
        <p:xfrm>
          <a:off x="3352800" y="952500"/>
          <a:ext cx="12725400" cy="7543801"/>
        </p:xfrm>
        <a:graphic>
          <a:graphicData uri="http://schemas.openxmlformats.org/drawingml/2006/table">
            <a:tbl>
              <a:tblPr/>
              <a:tblGrid>
                <a:gridCol w="2545080">
                  <a:extLst>
                    <a:ext uri="{9D8B030D-6E8A-4147-A177-3AD203B41FA5}">
                      <a16:colId xmlns:a16="http://schemas.microsoft.com/office/drawing/2014/main" val="2651306026"/>
                    </a:ext>
                  </a:extLst>
                </a:gridCol>
                <a:gridCol w="2545080">
                  <a:extLst>
                    <a:ext uri="{9D8B030D-6E8A-4147-A177-3AD203B41FA5}">
                      <a16:colId xmlns:a16="http://schemas.microsoft.com/office/drawing/2014/main" val="4004741235"/>
                    </a:ext>
                  </a:extLst>
                </a:gridCol>
                <a:gridCol w="2545080">
                  <a:extLst>
                    <a:ext uri="{9D8B030D-6E8A-4147-A177-3AD203B41FA5}">
                      <a16:colId xmlns:a16="http://schemas.microsoft.com/office/drawing/2014/main" val="3656491250"/>
                    </a:ext>
                  </a:extLst>
                </a:gridCol>
                <a:gridCol w="2545080">
                  <a:extLst>
                    <a:ext uri="{9D8B030D-6E8A-4147-A177-3AD203B41FA5}">
                      <a16:colId xmlns:a16="http://schemas.microsoft.com/office/drawing/2014/main" val="3997237133"/>
                    </a:ext>
                  </a:extLst>
                </a:gridCol>
                <a:gridCol w="2545080">
                  <a:extLst>
                    <a:ext uri="{9D8B030D-6E8A-4147-A177-3AD203B41FA5}">
                      <a16:colId xmlns:a16="http://schemas.microsoft.com/office/drawing/2014/main" val="1677666686"/>
                    </a:ext>
                  </a:extLst>
                </a:gridCol>
              </a:tblGrid>
              <a:tr h="360321">
                <a:tc>
                  <a:txBody>
                    <a:bodyPr/>
                    <a:lstStyle/>
                    <a:p>
                      <a:r>
                        <a:rPr lang="en-US" sz="1800">
                          <a:latin typeface="Nunito" pitchFamily="2" charset="0"/>
                        </a:rPr>
                        <a:t>Feature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b="1">
                          <a:latin typeface="Nunito" pitchFamily="2" charset="0"/>
                        </a:rPr>
                        <a:t>RGB</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b="1">
                          <a:latin typeface="Nunito" pitchFamily="2" charset="0"/>
                        </a:rPr>
                        <a:t>CMYK</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b="1">
                          <a:latin typeface="Nunito" pitchFamily="2" charset="0"/>
                        </a:rPr>
                        <a:t>HSV (HSB)</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b="1">
                          <a:latin typeface="Nunito" pitchFamily="2" charset="0"/>
                        </a:rPr>
                        <a:t>LAB</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76884889"/>
                  </a:ext>
                </a:extLst>
              </a:tr>
              <a:tr h="729008">
                <a:tc>
                  <a:txBody>
                    <a:bodyPr/>
                    <a:lstStyle/>
                    <a:p>
                      <a:r>
                        <a:rPr lang="en-US" sz="1800" b="1">
                          <a:latin typeface="Nunito" pitchFamily="2" charset="0"/>
                        </a:rPr>
                        <a:t>Full Form</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Red, Green, Blue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Cyan, Magenta, Yellow, Black</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Hue, Saturation, Value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Lightness, a (green–red), b (blue–yellow)</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589643902"/>
                  </a:ext>
                </a:extLst>
              </a:tr>
              <a:tr h="973361">
                <a:tc>
                  <a:txBody>
                    <a:bodyPr/>
                    <a:lstStyle/>
                    <a:p>
                      <a:r>
                        <a:rPr lang="en-US" sz="1800" b="1">
                          <a:latin typeface="Nunito" pitchFamily="2" charset="0"/>
                        </a:rPr>
                        <a:t>Used In</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Digital displays, screens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Printing (ink-based)</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Color picking, UI design</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Image processing, color difference analysis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843680"/>
                  </a:ext>
                </a:extLst>
              </a:tr>
              <a:tr h="729008">
                <a:tc>
                  <a:txBody>
                    <a:bodyPr/>
                    <a:lstStyle/>
                    <a:p>
                      <a:r>
                        <a:rPr lang="en-US" sz="1800" b="1">
                          <a:latin typeface="Nunito" pitchFamily="2" charset="0"/>
                        </a:rPr>
                        <a:t>Color Space Type</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Additive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Subtractive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Cylindrical (based on RGB)</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Perceptual, device-independent</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001290195"/>
                  </a:ext>
                </a:extLst>
              </a:tr>
              <a:tr h="706174">
                <a:tc>
                  <a:txBody>
                    <a:bodyPr/>
                    <a:lstStyle/>
                    <a:p>
                      <a:r>
                        <a:rPr lang="en-US" sz="1800" b="1" dirty="0">
                          <a:latin typeface="Nunito" pitchFamily="2" charset="0"/>
                        </a:rPr>
                        <a:t>Primary Colors</a:t>
                      </a:r>
                      <a:endParaRPr lang="en-US" sz="1800" dirty="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Red, Green, Blue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Cyan, Magenta, Yellow</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Derived from RGB</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Not based on primaries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279854821"/>
                  </a:ext>
                </a:extLst>
              </a:tr>
              <a:tr h="729008">
                <a:tc>
                  <a:txBody>
                    <a:bodyPr/>
                    <a:lstStyle/>
                    <a:p>
                      <a:r>
                        <a:rPr lang="en-US" sz="1800" b="1">
                          <a:latin typeface="Nunito" pitchFamily="2" charset="0"/>
                        </a:rPr>
                        <a:t>Range</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0–255 per channel</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0–100% per channel</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pt-BR" sz="1800">
                          <a:latin typeface="Nunito" pitchFamily="2" charset="0"/>
                        </a:rPr>
                        <a:t>H: 0–360°, S/V: 0–100%</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L: 0–100, a/b: –128 to 127 (approx.)</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335398942"/>
                  </a:ext>
                </a:extLst>
              </a:tr>
              <a:tr h="666841">
                <a:tc>
                  <a:txBody>
                    <a:bodyPr/>
                    <a:lstStyle/>
                    <a:p>
                      <a:r>
                        <a:rPr lang="en-US" sz="1800" b="1">
                          <a:latin typeface="Nunito" pitchFamily="2" charset="0"/>
                        </a:rPr>
                        <a:t>Mixing Result</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Combining all gives </a:t>
                      </a:r>
                      <a:r>
                        <a:rPr lang="en-US" sz="1800" b="1" dirty="0">
                          <a:latin typeface="Nunito" pitchFamily="2" charset="0"/>
                        </a:rPr>
                        <a:t>white</a:t>
                      </a:r>
                      <a:endParaRPr lang="en-US" sz="1800" dirty="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Combining all gives </a:t>
                      </a:r>
                      <a:r>
                        <a:rPr lang="en-US" sz="1800" b="1">
                          <a:latin typeface="Nunito" pitchFamily="2" charset="0"/>
                        </a:rPr>
                        <a:t>black</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N/A</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N/A</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49563117"/>
                  </a:ext>
                </a:extLst>
              </a:tr>
              <a:tr h="729008">
                <a:tc>
                  <a:txBody>
                    <a:bodyPr/>
                    <a:lstStyle/>
                    <a:p>
                      <a:r>
                        <a:rPr lang="en-US" sz="1800" b="1" dirty="0">
                          <a:latin typeface="Nunito" pitchFamily="2" charset="0"/>
                        </a:rPr>
                        <a:t>Intuitive?</a:t>
                      </a:r>
                      <a:endParaRPr lang="en-US" sz="1800" dirty="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Less intuitive for humans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Somewhat intuitive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More intuitive for color tweaks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Very accurate but not intuitive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88452839"/>
                  </a:ext>
                </a:extLst>
              </a:tr>
              <a:tr h="947711">
                <a:tc>
                  <a:txBody>
                    <a:bodyPr/>
                    <a:lstStyle/>
                    <a:p>
                      <a:r>
                        <a:rPr lang="en-US" sz="1800" b="1">
                          <a:latin typeface="Nunito" pitchFamily="2" charset="0"/>
                        </a:rPr>
                        <a:t>Device Dependency</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Device-dependent (monitor based)</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Device-dependent (printer based)</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Derived from RGB → device-dependent</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Device-independent</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803551954"/>
                  </a:ext>
                </a:extLst>
              </a:tr>
              <a:tr h="973361">
                <a:tc>
                  <a:txBody>
                    <a:bodyPr/>
                    <a:lstStyle/>
                    <a:p>
                      <a:r>
                        <a:rPr lang="en-US" sz="1800" b="1">
                          <a:latin typeface="Nunito" pitchFamily="2" charset="0"/>
                        </a:rPr>
                        <a:t>Use Cases</a:t>
                      </a:r>
                      <a:endParaRPr lang="en-US" sz="1800">
                        <a:latin typeface="Nunito" pitchFamily="2" charset="0"/>
                      </a:endParaRP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Websites, TV, mobile apps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Posters, magazines, brochures</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a:latin typeface="Nunito" pitchFamily="2" charset="0"/>
                        </a:rPr>
                        <a:t>Graphic tools, sliders in software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1800" dirty="0">
                          <a:latin typeface="Nunito" pitchFamily="2" charset="0"/>
                        </a:rPr>
                        <a:t>Image editing (Photoshop), color science</a:t>
                      </a:r>
                    </a:p>
                  </a:txBody>
                  <a:tcPr marL="48149" marR="48149" marT="24074" marB="2407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6067116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151908" y="2196610"/>
            <a:ext cx="7984184" cy="5893780"/>
          </a:xfrm>
          <a:custGeom>
            <a:avLst/>
            <a:gdLst/>
            <a:ahLst/>
            <a:cxnLst/>
            <a:rect l="l" t="t" r="r" b="b"/>
            <a:pathLst>
              <a:path w="7984184" h="5893780">
                <a:moveTo>
                  <a:pt x="0" y="0"/>
                </a:moveTo>
                <a:lnTo>
                  <a:pt x="7984184" y="0"/>
                </a:lnTo>
                <a:lnTo>
                  <a:pt x="7984184" y="5893780"/>
                </a:lnTo>
                <a:lnTo>
                  <a:pt x="0" y="58937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925545" y="3690971"/>
            <a:ext cx="10436910" cy="2170466"/>
          </a:xfrm>
          <a:prstGeom prst="rect">
            <a:avLst/>
          </a:prstGeom>
        </p:spPr>
        <p:txBody>
          <a:bodyPr lIns="0" tIns="0" rIns="0" bIns="0" rtlCol="0" anchor="t">
            <a:spAutoFit/>
          </a:bodyPr>
          <a:lstStyle/>
          <a:p>
            <a:pPr marL="0" lvl="0" indent="0" algn="ctr">
              <a:lnSpc>
                <a:spcPts val="16927"/>
              </a:lnSpc>
            </a:pPr>
            <a:r>
              <a:rPr lang="en-US" sz="15000" dirty="0">
                <a:solidFill>
                  <a:srgbClr val="FFBB24"/>
                </a:solidFill>
                <a:latin typeface="Chewy"/>
                <a:ea typeface="Chewy"/>
                <a:cs typeface="Chewy"/>
                <a:sym typeface="Chewy"/>
              </a:rPr>
              <a:t>Conclusion</a:t>
            </a:r>
          </a:p>
        </p:txBody>
      </p:sp>
      <p:grpSp>
        <p:nvGrpSpPr>
          <p:cNvPr id="5" name="Group 5"/>
          <p:cNvGrpSpPr/>
          <p:nvPr/>
        </p:nvGrpSpPr>
        <p:grpSpPr>
          <a:xfrm>
            <a:off x="7700153" y="5180484"/>
            <a:ext cx="2880740" cy="1743880"/>
            <a:chOff x="-9272" y="-921600"/>
            <a:chExt cx="3840986" cy="2325174"/>
          </a:xfrm>
        </p:grpSpPr>
        <p:grpSp>
          <p:nvGrpSpPr>
            <p:cNvPr id="6" name="Group 6"/>
            <p:cNvGrpSpPr/>
            <p:nvPr/>
          </p:nvGrpSpPr>
          <p:grpSpPr>
            <a:xfrm>
              <a:off x="-9272" y="-921600"/>
              <a:ext cx="3840986" cy="2325174"/>
              <a:chOff x="-575" y="-57150"/>
              <a:chExt cx="238185" cy="144188"/>
            </a:xfrm>
          </p:grpSpPr>
          <p:sp>
            <p:nvSpPr>
              <p:cNvPr id="7" name="Freeform 7"/>
              <p:cNvSpPr/>
              <p:nvPr/>
            </p:nvSpPr>
            <p:spPr>
              <a:xfrm>
                <a:off x="-575" y="-1401"/>
                <a:ext cx="237610" cy="87038"/>
              </a:xfrm>
              <a:custGeom>
                <a:avLst/>
                <a:gdLst/>
                <a:ahLst/>
                <a:cxnLst/>
                <a:rect l="l" t="t" r="r" b="b"/>
                <a:pathLst>
                  <a:path w="237610" h="87038">
                    <a:moveTo>
                      <a:pt x="43519" y="0"/>
                    </a:moveTo>
                    <a:lnTo>
                      <a:pt x="194091" y="0"/>
                    </a:lnTo>
                    <a:cubicBezTo>
                      <a:pt x="205633" y="0"/>
                      <a:pt x="216703" y="4585"/>
                      <a:pt x="224864" y="12746"/>
                    </a:cubicBezTo>
                    <a:cubicBezTo>
                      <a:pt x="233025" y="20908"/>
                      <a:pt x="237610" y="31977"/>
                      <a:pt x="237610" y="43519"/>
                    </a:cubicBezTo>
                    <a:lnTo>
                      <a:pt x="237610" y="43519"/>
                    </a:lnTo>
                    <a:cubicBezTo>
                      <a:pt x="237610" y="55061"/>
                      <a:pt x="233025" y="66130"/>
                      <a:pt x="224864" y="74291"/>
                    </a:cubicBezTo>
                    <a:cubicBezTo>
                      <a:pt x="216703" y="82453"/>
                      <a:pt x="205633" y="87038"/>
                      <a:pt x="194091"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txBody>
              <a:bodyPr/>
              <a:lstStyle/>
              <a:p>
                <a:endParaRPr lang="en-US" dirty="0"/>
              </a:p>
            </p:txBody>
          </p:sp>
          <p:sp>
            <p:nvSpPr>
              <p:cNvPr id="8" name="TextBox 8"/>
              <p:cNvSpPr txBox="1"/>
              <p:nvPr/>
            </p:nvSpPr>
            <p:spPr>
              <a:xfrm>
                <a:off x="0" y="-57150"/>
                <a:ext cx="237610" cy="144188"/>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362685" y="149337"/>
              <a:ext cx="3106343" cy="1021049"/>
            </a:xfrm>
            <a:prstGeom prst="rect">
              <a:avLst/>
            </a:prstGeom>
          </p:spPr>
          <p:txBody>
            <a:bodyPr lIns="0" tIns="0" rIns="0" bIns="0" rtlCol="0" anchor="t">
              <a:spAutoFit/>
            </a:bodyPr>
            <a:lstStyle/>
            <a:p>
              <a:pPr algn="ctr">
                <a:lnSpc>
                  <a:spcPts val="6300"/>
                </a:lnSpc>
              </a:pPr>
              <a:r>
                <a:rPr lang="en-US" sz="4000" dirty="0">
                  <a:solidFill>
                    <a:srgbClr val="000000"/>
                  </a:solidFill>
                  <a:latin typeface="Chewy"/>
                  <a:ea typeface="Chewy"/>
                  <a:cs typeface="Chewy"/>
                  <a:sym typeface="Chewy"/>
                </a:rPr>
                <a:t>The Finale</a:t>
              </a:r>
            </a:p>
          </p:txBody>
        </p:sp>
      </p:grpSp>
      <p:pic>
        <p:nvPicPr>
          <p:cNvPr id="10" name="Picture 10"/>
          <p:cNvPicPr>
            <a:picLocks noChangeAspect="1"/>
          </p:cNvPicPr>
          <p:nvPr/>
        </p:nvPicPr>
        <p:blipFill>
          <a:blip r:embed="rId6"/>
          <a:srcRect/>
          <a:stretch>
            <a:fillRect/>
          </a:stretch>
        </p:blipFill>
        <p:spPr>
          <a:xfrm rot="5400000">
            <a:off x="10718398" y="3132818"/>
            <a:ext cx="6061750" cy="2849023"/>
          </a:xfrm>
          <a:prstGeom prst="rect">
            <a:avLst/>
          </a:prstGeom>
        </p:spPr>
      </p:pic>
      <p:pic>
        <p:nvPicPr>
          <p:cNvPr id="11" name="Picture 11"/>
          <p:cNvPicPr>
            <a:picLocks noChangeAspect="1"/>
          </p:cNvPicPr>
          <p:nvPr/>
        </p:nvPicPr>
        <p:blipFill>
          <a:blip r:embed="rId6"/>
          <a:srcRect/>
          <a:stretch>
            <a:fillRect/>
          </a:stretch>
        </p:blipFill>
        <p:spPr>
          <a:xfrm rot="5400000" flipH="1" flipV="1">
            <a:off x="110515" y="3132818"/>
            <a:ext cx="6061750" cy="28490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457200" y="1217299"/>
            <a:ext cx="16996397" cy="8652811"/>
          </a:xfrm>
          <a:custGeom>
            <a:avLst/>
            <a:gdLst/>
            <a:ahLst/>
            <a:cxnLst/>
            <a:rect l="l" t="t" r="r" b="b"/>
            <a:pathLst>
              <a:path w="10668267" h="7525978">
                <a:moveTo>
                  <a:pt x="10668268" y="0"/>
                </a:moveTo>
                <a:lnTo>
                  <a:pt x="0" y="0"/>
                </a:lnTo>
                <a:lnTo>
                  <a:pt x="0" y="7525978"/>
                </a:lnTo>
                <a:lnTo>
                  <a:pt x="10668268" y="7525978"/>
                </a:lnTo>
                <a:lnTo>
                  <a:pt x="1066826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pic>
        <p:nvPicPr>
          <p:cNvPr id="11" name="Picture 11"/>
          <p:cNvPicPr>
            <a:picLocks noChangeAspect="1"/>
          </p:cNvPicPr>
          <p:nvPr/>
        </p:nvPicPr>
        <p:blipFill>
          <a:blip r:embed="rId6"/>
          <a:srcRect/>
          <a:stretch>
            <a:fillRect/>
          </a:stretch>
        </p:blipFill>
        <p:spPr>
          <a:xfrm>
            <a:off x="685800" y="876300"/>
            <a:ext cx="1603997" cy="2467688"/>
          </a:xfrm>
          <a:prstGeom prst="rect">
            <a:avLst/>
          </a:prstGeom>
        </p:spPr>
      </p:pic>
      <p:sp>
        <p:nvSpPr>
          <p:cNvPr id="12" name="TextBox 12"/>
          <p:cNvSpPr txBox="1"/>
          <p:nvPr/>
        </p:nvSpPr>
        <p:spPr>
          <a:xfrm>
            <a:off x="4452243" y="541765"/>
            <a:ext cx="9380027" cy="1810752"/>
          </a:xfrm>
          <a:prstGeom prst="rect">
            <a:avLst/>
          </a:prstGeom>
        </p:spPr>
        <p:txBody>
          <a:bodyPr lIns="0" tIns="0" rIns="0" bIns="0" rtlCol="0" anchor="t">
            <a:spAutoFit/>
          </a:bodyPr>
          <a:lstStyle/>
          <a:p>
            <a:pPr marL="0" lvl="0" indent="0" algn="ctr">
              <a:lnSpc>
                <a:spcPts val="15213"/>
              </a:lnSpc>
            </a:pPr>
            <a:r>
              <a:rPr lang="en-US" sz="9600" dirty="0">
                <a:solidFill>
                  <a:srgbClr val="FFBB24"/>
                </a:solidFill>
                <a:latin typeface="Chewy"/>
                <a:ea typeface="Chewy"/>
                <a:cs typeface="Chewy"/>
                <a:sym typeface="Chewy"/>
              </a:rPr>
              <a:t>SYNOPSIS</a:t>
            </a:r>
          </a:p>
        </p:txBody>
      </p:sp>
      <p:pic>
        <p:nvPicPr>
          <p:cNvPr id="13" name="Picture 13"/>
          <p:cNvPicPr>
            <a:picLocks noChangeAspect="1"/>
          </p:cNvPicPr>
          <p:nvPr/>
        </p:nvPicPr>
        <p:blipFill>
          <a:blip r:embed="rId6"/>
          <a:srcRect/>
          <a:stretch>
            <a:fillRect/>
          </a:stretch>
        </p:blipFill>
        <p:spPr>
          <a:xfrm flipH="1">
            <a:off x="16383000" y="6972300"/>
            <a:ext cx="1603997" cy="2467688"/>
          </a:xfrm>
          <a:prstGeom prst="rect">
            <a:avLst/>
          </a:prstGeom>
        </p:spPr>
      </p:pic>
      <p:sp>
        <p:nvSpPr>
          <p:cNvPr id="4" name="TextBox 3">
            <a:extLst>
              <a:ext uri="{FF2B5EF4-FFF2-40B4-BE49-F238E27FC236}">
                <a16:creationId xmlns:a16="http://schemas.microsoft.com/office/drawing/2014/main" id="{63F53DFB-858C-A82C-2B23-A9F459479FE5}"/>
              </a:ext>
            </a:extLst>
          </p:cNvPr>
          <p:cNvSpPr txBox="1"/>
          <p:nvPr/>
        </p:nvSpPr>
        <p:spPr>
          <a:xfrm>
            <a:off x="3886200" y="3467100"/>
            <a:ext cx="9829800" cy="3970318"/>
          </a:xfrm>
          <a:prstGeom prst="rect">
            <a:avLst/>
          </a:prstGeom>
          <a:noFill/>
        </p:spPr>
        <p:txBody>
          <a:bodyPr wrap="square" rtlCol="0">
            <a:spAutoFit/>
          </a:bodyPr>
          <a:lstStyle/>
          <a:p>
            <a:r>
              <a:rPr lang="en-US" sz="2800" dirty="0">
                <a:latin typeface="Nunito" pitchFamily="2" charset="0"/>
              </a:rPr>
              <a:t>The RGB color space is an additive model that blends Red, Green, and Blue light to produce a wide range of colors, primarily used in digital displays. It powers everything from computer screens and smartphones to digital cameras. While ideal for light-emitting devices, RGB is device-dependent and not perceptually uniform, making it less suitable for print or precise color adjustments. Nonetheless, it remains essential in digital imaging and design workflows.</a:t>
            </a:r>
          </a:p>
          <a:p>
            <a:endParaRPr lang="en-US" sz="2800" dirty="0">
              <a:latin typeface="Nunito" pitchFamily="2" charset="0"/>
            </a:endParaRPr>
          </a:p>
        </p:txBody>
      </p:sp>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A7D91E"/>
        </a:solidFill>
        <a:effectLst/>
      </p:bgPr>
    </p:bg>
    <p:spTree>
      <p:nvGrpSpPr>
        <p:cNvPr id="1" name=""/>
        <p:cNvGrpSpPr/>
        <p:nvPr/>
      </p:nvGrpSpPr>
      <p:grpSpPr>
        <a:xfrm>
          <a:off x="0" y="0"/>
          <a:ext cx="0" cy="0"/>
          <a:chOff x="0" y="0"/>
          <a:chExt cx="0" cy="0"/>
        </a:xfrm>
      </p:grpSpPr>
      <p:sp>
        <p:nvSpPr>
          <p:cNvPr id="2" name="Freeform 2"/>
          <p:cNvSpPr/>
          <p:nvPr/>
        </p:nvSpPr>
        <p:spPr>
          <a:xfrm>
            <a:off x="-3326948" y="-7100703"/>
            <a:ext cx="24941896" cy="24488407"/>
          </a:xfrm>
          <a:custGeom>
            <a:avLst/>
            <a:gdLst/>
            <a:ahLst/>
            <a:cxnLst/>
            <a:rect l="l" t="t" r="r" b="b"/>
            <a:pathLst>
              <a:path w="24941896" h="24488407">
                <a:moveTo>
                  <a:pt x="0" y="0"/>
                </a:moveTo>
                <a:lnTo>
                  <a:pt x="24941896" y="0"/>
                </a:lnTo>
                <a:lnTo>
                  <a:pt x="24941896" y="24488406"/>
                </a:lnTo>
                <a:lnTo>
                  <a:pt x="0" y="2448840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821709" y="2407672"/>
            <a:ext cx="12644582" cy="5471655"/>
          </a:xfrm>
          <a:custGeom>
            <a:avLst/>
            <a:gdLst/>
            <a:ahLst/>
            <a:cxnLst/>
            <a:rect l="l" t="t" r="r" b="b"/>
            <a:pathLst>
              <a:path w="12644582" h="5471655">
                <a:moveTo>
                  <a:pt x="0" y="0"/>
                </a:moveTo>
                <a:lnTo>
                  <a:pt x="12644582" y="0"/>
                </a:lnTo>
                <a:lnTo>
                  <a:pt x="12644582" y="5471656"/>
                </a:lnTo>
                <a:lnTo>
                  <a:pt x="0" y="5471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4" name="Picture 4"/>
          <p:cNvPicPr>
            <a:picLocks noChangeAspect="1"/>
          </p:cNvPicPr>
          <p:nvPr/>
        </p:nvPicPr>
        <p:blipFill>
          <a:blip r:embed="rId6"/>
          <a:srcRect/>
          <a:stretch>
            <a:fillRect/>
          </a:stretch>
        </p:blipFill>
        <p:spPr>
          <a:xfrm rot="5400000">
            <a:off x="14748633" y="4110645"/>
            <a:ext cx="3934688" cy="2065711"/>
          </a:xfrm>
          <a:prstGeom prst="rect">
            <a:avLst/>
          </a:prstGeom>
        </p:spPr>
      </p:pic>
      <p:sp>
        <p:nvSpPr>
          <p:cNvPr id="5" name="TextBox 5"/>
          <p:cNvSpPr txBox="1"/>
          <p:nvPr/>
        </p:nvSpPr>
        <p:spPr>
          <a:xfrm>
            <a:off x="4515350" y="3593968"/>
            <a:ext cx="9257301" cy="3422913"/>
          </a:xfrm>
          <a:prstGeom prst="rect">
            <a:avLst/>
          </a:prstGeom>
        </p:spPr>
        <p:txBody>
          <a:bodyPr lIns="0" tIns="0" rIns="0" bIns="0" rtlCol="0" anchor="t">
            <a:spAutoFit/>
          </a:bodyPr>
          <a:lstStyle/>
          <a:p>
            <a:pPr marL="0" lvl="0" indent="0" algn="ctr">
              <a:lnSpc>
                <a:spcPts val="12602"/>
              </a:lnSpc>
            </a:pPr>
            <a:r>
              <a:rPr lang="en-US" sz="15368" dirty="0">
                <a:solidFill>
                  <a:srgbClr val="FFBB24"/>
                </a:solidFill>
                <a:latin typeface="Chewy"/>
                <a:ea typeface="Chewy"/>
                <a:cs typeface="Chewy"/>
                <a:sym typeface="Chewy"/>
              </a:rPr>
              <a:t>THANKS FOR WATCHING</a:t>
            </a:r>
          </a:p>
        </p:txBody>
      </p:sp>
      <p:pic>
        <p:nvPicPr>
          <p:cNvPr id="6" name="Picture 6"/>
          <p:cNvPicPr>
            <a:picLocks noChangeAspect="1"/>
          </p:cNvPicPr>
          <p:nvPr/>
        </p:nvPicPr>
        <p:blipFill>
          <a:blip r:embed="rId6"/>
          <a:srcRect/>
          <a:stretch>
            <a:fillRect/>
          </a:stretch>
        </p:blipFill>
        <p:spPr>
          <a:xfrm rot="5400000" flipH="1" flipV="1">
            <a:off x="-395321" y="4031762"/>
            <a:ext cx="3934688" cy="2065711"/>
          </a:xfrm>
          <a:prstGeom prst="rect">
            <a:avLst/>
          </a:prstGeom>
        </p:spPr>
      </p:pic>
      <p:grpSp>
        <p:nvGrpSpPr>
          <p:cNvPr id="7" name="Group 7"/>
          <p:cNvGrpSpPr/>
          <p:nvPr/>
        </p:nvGrpSpPr>
        <p:grpSpPr>
          <a:xfrm>
            <a:off x="4571999" y="7277100"/>
            <a:ext cx="9257301" cy="1788523"/>
            <a:chOff x="0" y="0"/>
            <a:chExt cx="10108355" cy="1866359"/>
          </a:xfrm>
        </p:grpSpPr>
        <p:grpSp>
          <p:nvGrpSpPr>
            <p:cNvPr id="8" name="Group 8"/>
            <p:cNvGrpSpPr/>
            <p:nvPr/>
          </p:nvGrpSpPr>
          <p:grpSpPr>
            <a:xfrm>
              <a:off x="0" y="0"/>
              <a:ext cx="10108355" cy="1866359"/>
              <a:chOff x="0" y="0"/>
              <a:chExt cx="471403" cy="87038"/>
            </a:xfrm>
          </p:grpSpPr>
          <p:sp>
            <p:nvSpPr>
              <p:cNvPr id="9" name="Freeform 9"/>
              <p:cNvSpPr/>
              <p:nvPr/>
            </p:nvSpPr>
            <p:spPr>
              <a:xfrm>
                <a:off x="0" y="0"/>
                <a:ext cx="471403" cy="87038"/>
              </a:xfrm>
              <a:custGeom>
                <a:avLst/>
                <a:gdLst/>
                <a:ahLst/>
                <a:cxnLst/>
                <a:rect l="l" t="t" r="r" b="b"/>
                <a:pathLst>
                  <a:path w="471403" h="87038">
                    <a:moveTo>
                      <a:pt x="43519" y="0"/>
                    </a:moveTo>
                    <a:lnTo>
                      <a:pt x="427884" y="0"/>
                    </a:lnTo>
                    <a:cubicBezTo>
                      <a:pt x="439426" y="0"/>
                      <a:pt x="450496" y="4585"/>
                      <a:pt x="458657" y="12746"/>
                    </a:cubicBezTo>
                    <a:cubicBezTo>
                      <a:pt x="466818" y="20908"/>
                      <a:pt x="471403" y="31977"/>
                      <a:pt x="471403" y="43519"/>
                    </a:cubicBezTo>
                    <a:lnTo>
                      <a:pt x="471403" y="43519"/>
                    </a:lnTo>
                    <a:cubicBezTo>
                      <a:pt x="471403" y="55061"/>
                      <a:pt x="466818" y="66130"/>
                      <a:pt x="458657" y="74291"/>
                    </a:cubicBezTo>
                    <a:cubicBezTo>
                      <a:pt x="450496" y="82453"/>
                      <a:pt x="439426" y="87038"/>
                      <a:pt x="427884" y="87038"/>
                    </a:cubicBezTo>
                    <a:lnTo>
                      <a:pt x="43519" y="87038"/>
                    </a:lnTo>
                    <a:cubicBezTo>
                      <a:pt x="31977" y="87038"/>
                      <a:pt x="20908" y="82453"/>
                      <a:pt x="12746" y="74291"/>
                    </a:cubicBezTo>
                    <a:cubicBezTo>
                      <a:pt x="4585" y="66130"/>
                      <a:pt x="0" y="55061"/>
                      <a:pt x="0" y="43519"/>
                    </a:cubicBezTo>
                    <a:lnTo>
                      <a:pt x="0" y="43519"/>
                    </a:lnTo>
                    <a:cubicBezTo>
                      <a:pt x="0" y="31977"/>
                      <a:pt x="4585" y="20908"/>
                      <a:pt x="12746" y="12746"/>
                    </a:cubicBezTo>
                    <a:cubicBezTo>
                      <a:pt x="20908" y="4585"/>
                      <a:pt x="31977" y="0"/>
                      <a:pt x="43519" y="0"/>
                    </a:cubicBezTo>
                    <a:close/>
                  </a:path>
                </a:pathLst>
              </a:custGeom>
              <a:solidFill>
                <a:srgbClr val="F95C32"/>
              </a:solidFill>
              <a:ln w="114300" cap="rnd">
                <a:solidFill>
                  <a:srgbClr val="000000"/>
                </a:solidFill>
                <a:prstDash val="solid"/>
                <a:round/>
              </a:ln>
            </p:spPr>
            <p:txBody>
              <a:bodyPr/>
              <a:lstStyle/>
              <a:p>
                <a:endParaRPr lang="en-US" dirty="0"/>
              </a:p>
            </p:txBody>
          </p:sp>
          <p:sp>
            <p:nvSpPr>
              <p:cNvPr id="10" name="TextBox 10"/>
              <p:cNvSpPr txBox="1"/>
              <p:nvPr/>
            </p:nvSpPr>
            <p:spPr>
              <a:xfrm>
                <a:off x="0" y="-57150"/>
                <a:ext cx="471403" cy="144188"/>
              </a:xfrm>
              <a:prstGeom prst="rect">
                <a:avLst/>
              </a:prstGeom>
            </p:spPr>
            <p:txBody>
              <a:bodyPr lIns="50800" tIns="50800" rIns="50800" bIns="50800" rtlCol="0" anchor="ctr"/>
              <a:lstStyle/>
              <a:p>
                <a:pPr algn="ctr">
                  <a:lnSpc>
                    <a:spcPts val="3500"/>
                  </a:lnSpc>
                </a:pPr>
                <a:endParaRPr/>
              </a:p>
            </p:txBody>
          </p:sp>
        </p:grpSp>
        <p:sp>
          <p:nvSpPr>
            <p:cNvPr id="11" name="TextBox 11"/>
            <p:cNvSpPr txBox="1"/>
            <p:nvPr/>
          </p:nvSpPr>
          <p:spPr>
            <a:xfrm>
              <a:off x="956791" y="214381"/>
              <a:ext cx="8194774" cy="1193490"/>
            </a:xfrm>
            <a:prstGeom prst="rect">
              <a:avLst/>
            </a:prstGeom>
          </p:spPr>
          <p:txBody>
            <a:bodyPr lIns="0" tIns="0" rIns="0" bIns="0" rtlCol="0" anchor="t">
              <a:spAutoFit/>
            </a:bodyPr>
            <a:lstStyle/>
            <a:p>
              <a:pPr algn="ctr">
                <a:lnSpc>
                  <a:spcPts val="8377"/>
                </a:lnSpc>
              </a:pPr>
              <a:endParaRPr lang="en-US" sz="2400" dirty="0">
                <a:solidFill>
                  <a:srgbClr val="000000"/>
                </a:solidFill>
                <a:latin typeface="Chewy"/>
                <a:ea typeface="Chewy"/>
                <a:cs typeface="Chewy"/>
                <a:sym typeface="Chewy"/>
              </a:endParaRPr>
            </a:p>
          </p:txBody>
        </p:sp>
      </p:grpSp>
      <p:sp>
        <p:nvSpPr>
          <p:cNvPr id="16" name="TextBox 15">
            <a:extLst>
              <a:ext uri="{FF2B5EF4-FFF2-40B4-BE49-F238E27FC236}">
                <a16:creationId xmlns:a16="http://schemas.microsoft.com/office/drawing/2014/main" id="{7BB223C1-84CE-3BDF-91CE-4C19970CE2AD}"/>
              </a:ext>
            </a:extLst>
          </p:cNvPr>
          <p:cNvSpPr txBox="1"/>
          <p:nvPr/>
        </p:nvSpPr>
        <p:spPr>
          <a:xfrm>
            <a:off x="6705600" y="7172172"/>
            <a:ext cx="5334000" cy="2277547"/>
          </a:xfrm>
          <a:prstGeom prst="rect">
            <a:avLst/>
          </a:prstGeom>
          <a:noFill/>
        </p:spPr>
        <p:txBody>
          <a:bodyPr wrap="square" rtlCol="0">
            <a:spAutoFit/>
          </a:bodyPr>
          <a:lstStyle/>
          <a:p>
            <a:pPr algn="ctr"/>
            <a:r>
              <a:rPr lang="en-US" sz="3200" dirty="0">
                <a:latin typeface="Chewy" panose="020B0604020202020204" charset="0"/>
                <a:ea typeface="Chewy" panose="020B0604020202020204" charset="0"/>
              </a:rPr>
              <a:t>By</a:t>
            </a:r>
          </a:p>
          <a:p>
            <a:pPr algn="ctr"/>
            <a:r>
              <a:rPr lang="en-US" sz="4400" dirty="0">
                <a:latin typeface="Chewy" panose="020B0604020202020204" charset="0"/>
                <a:ea typeface="Chewy" panose="020B0604020202020204" charset="0"/>
              </a:rPr>
              <a:t>Amritha L</a:t>
            </a:r>
          </a:p>
          <a:p>
            <a:pPr algn="ctr"/>
            <a:r>
              <a:rPr lang="en-US" sz="4400" dirty="0">
                <a:latin typeface="Chewy" panose="020B0604020202020204" charset="0"/>
                <a:ea typeface="Chewy" panose="020B0604020202020204" charset="0"/>
              </a:rPr>
              <a:t>2023510051</a:t>
            </a:r>
          </a:p>
          <a:p>
            <a:endParaRPr lang="en-US" dirty="0"/>
          </a:p>
        </p:txBody>
      </p:sp>
      <p:sp>
        <p:nvSpPr>
          <p:cNvPr id="17" name="TextBox 16">
            <a:extLst>
              <a:ext uri="{FF2B5EF4-FFF2-40B4-BE49-F238E27FC236}">
                <a16:creationId xmlns:a16="http://schemas.microsoft.com/office/drawing/2014/main" id="{0C96FBEB-C0A0-747C-0B1B-7D33F134A0FC}"/>
              </a:ext>
            </a:extLst>
          </p:cNvPr>
          <p:cNvSpPr txBox="1"/>
          <p:nvPr/>
        </p:nvSpPr>
        <p:spPr>
          <a:xfrm>
            <a:off x="9525000" y="9130794"/>
            <a:ext cx="14782800" cy="1077218"/>
          </a:xfrm>
          <a:prstGeom prst="rect">
            <a:avLst/>
          </a:prstGeom>
          <a:noFill/>
        </p:spPr>
        <p:txBody>
          <a:bodyPr wrap="square" rtlCol="0">
            <a:spAutoFit/>
          </a:bodyPr>
          <a:lstStyle/>
          <a:p>
            <a:r>
              <a:rPr lang="en-US" sz="3200" dirty="0" err="1">
                <a:latin typeface="Chewy" panose="020B0604020202020204" charset="0"/>
                <a:ea typeface="Chewy" panose="020B0604020202020204" charset="0"/>
              </a:rPr>
              <a:t>B.Tech</a:t>
            </a:r>
            <a:r>
              <a:rPr lang="en-US" sz="3200" dirty="0">
                <a:latin typeface="Chewy" panose="020B0604020202020204" charset="0"/>
                <a:ea typeface="Chewy" panose="020B0604020202020204" charset="0"/>
              </a:rPr>
              <a:t> Artificial Intelligence and Data Science (4/8)</a:t>
            </a:r>
          </a:p>
          <a:p>
            <a:r>
              <a:rPr lang="en-US" sz="3200" dirty="0">
                <a:latin typeface="Chewy" panose="020B0604020202020204" charset="0"/>
                <a:ea typeface="Chewy" panose="020B0604020202020204" charset="0"/>
              </a:rPr>
              <a:t>Anna University –MIT Campus</a:t>
            </a: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992</Words>
  <Application>Microsoft Office PowerPoint</Application>
  <PresentationFormat>Custom</PresentationFormat>
  <Paragraphs>123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Chewy</vt:lpstr>
      <vt:lpstr>Arial</vt:lpstr>
      <vt:lpstr>Wingdings</vt:lpstr>
      <vt:lpstr>Nunito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Cartoon Animated Memory Game Presentation</dc:title>
  <dc:creator>L AMRITHA</dc:creator>
  <cp:lastModifiedBy>AMRITHA L</cp:lastModifiedBy>
  <cp:revision>3</cp:revision>
  <dcterms:created xsi:type="dcterms:W3CDTF">2006-08-16T00:00:00Z</dcterms:created>
  <dcterms:modified xsi:type="dcterms:W3CDTF">2025-05-03T14:58:10Z</dcterms:modified>
  <dc:identifier>DAGmSJt9UnY</dc:identifier>
</cp:coreProperties>
</file>